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8" autoAdjust="0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2564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5259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50D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95760" y="6537960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F90A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95760" y="6537960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F90A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acro_ultra_modern_work/assets/bg1_dark.png"/>
          <p:cNvPicPr>
            <a:picLocks noChangeAspect="1"/>
          </p:cNvPicPr>
          <p:nvPr/>
        </p:nvPicPr>
        <p:blipFill>
          <a:blip r:embed="rId3"/>
          <a:srcRect l="418" r="418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438339" cy="77724"/>
          </a:xfrm>
          <a:prstGeom prst="rect">
            <a:avLst/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2438339" y="0"/>
            <a:ext cx="2438339" cy="77724"/>
          </a:xfrm>
          <a:prstGeom prst="rect">
            <a:avLst/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876678" y="0"/>
            <a:ext cx="2438339" cy="77724"/>
          </a:xfrm>
          <a:prstGeom prst="rect">
            <a:avLst/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315017" y="0"/>
            <a:ext cx="2438339" cy="77724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9753356" y="0"/>
            <a:ext cx="2438339" cy="77724"/>
          </a:xfrm>
          <a:prstGeom prst="rect">
            <a:avLst/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0" y="77724"/>
            <a:ext cx="6492240" cy="6780276"/>
          </a:xfrm>
          <a:prstGeom prst="rect">
            <a:avLst/>
          </a:prstGeom>
          <a:solidFill>
            <a:srgbClr val="050D19">
              <a:alpha val="94000"/>
            </a:srgbClr>
          </a:solidFill>
          <a:ln w="12700">
            <a:solidFill>
              <a:srgbClr val="050D1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3108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FRONT OFFICE TRANSFORMATION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58368" y="877824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Agentic AI for Macro Front Office</a:t>
            </a:r>
            <a:endParaRPr lang="en-US" sz="2450" dirty="0"/>
          </a:p>
          <a:p>
            <a:pPr marL="0" indent="0">
              <a:buNone/>
            </a:pPr>
            <a:r>
              <a:rPr lang="en-US" sz="24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UI Transformation</a:t>
            </a:r>
            <a:endParaRPr lang="en-US" sz="2450" dirty="0"/>
          </a:p>
        </p:txBody>
      </p:sp>
      <p:sp>
        <p:nvSpPr>
          <p:cNvPr id="11" name="Text 8"/>
          <p:cNvSpPr/>
          <p:nvPr/>
        </p:nvSpPr>
        <p:spPr>
          <a:xfrm>
            <a:off x="676656" y="19933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legacy .NET front-office screens into governed Angular / React micro frontends running inside Macro Desktop.</a:t>
            </a:r>
            <a:endParaRPr lang="en-US" sz="1520" dirty="0"/>
          </a:p>
        </p:txBody>
      </p:sp>
      <p:sp>
        <p:nvSpPr>
          <p:cNvPr id="12" name="Text 9"/>
          <p:cNvSpPr/>
          <p:nvPr/>
        </p:nvSpPr>
        <p:spPr>
          <a:xfrm>
            <a:off x="676656" y="2651760"/>
            <a:ext cx="5074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20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Figma Make accelerates the first UI draft. Macro MCP server and Macro MFE libraries inject guardrails, shared components, themes, auth, logging, and desktop patterns. GitHub + OpenShift complete the path to a desktop-ready release.</a:t>
            </a:r>
            <a:endParaRPr lang="en-US" sz="1220" dirty="0"/>
          </a:p>
        </p:txBody>
      </p:sp>
      <p:sp>
        <p:nvSpPr>
          <p:cNvPr id="13" name="Shape 10"/>
          <p:cNvSpPr/>
          <p:nvPr/>
        </p:nvSpPr>
        <p:spPr>
          <a:xfrm>
            <a:off x="658368" y="3986784"/>
            <a:ext cx="1664208" cy="658368"/>
          </a:xfrm>
          <a:prstGeom prst="roundRect">
            <a:avLst>
              <a:gd name="adj" fmla="val 13889"/>
            </a:avLst>
          </a:prstGeom>
          <a:solidFill>
            <a:srgbClr val="0B1E36">
              <a:alpha val="94000"/>
            </a:srgbClr>
          </a:solidFill>
          <a:ln w="12700">
            <a:solidFill>
              <a:srgbClr val="304867">
                <a:alpha val="6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68096" y="4142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87552" y="4078224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Prompt-first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87552" y="4297680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screen ideation</a:t>
            </a:r>
            <a:endParaRPr lang="en-US" sz="870" dirty="0"/>
          </a:p>
        </p:txBody>
      </p:sp>
      <p:sp>
        <p:nvSpPr>
          <p:cNvPr id="17" name="Shape 14"/>
          <p:cNvSpPr/>
          <p:nvPr/>
        </p:nvSpPr>
        <p:spPr>
          <a:xfrm>
            <a:off x="2450592" y="3986784"/>
            <a:ext cx="1664208" cy="658368"/>
          </a:xfrm>
          <a:prstGeom prst="roundRect">
            <a:avLst>
              <a:gd name="adj" fmla="val 13889"/>
            </a:avLst>
          </a:prstGeom>
          <a:solidFill>
            <a:srgbClr val="0B1E36">
              <a:alpha val="94000"/>
            </a:srgbClr>
          </a:solidFill>
          <a:ln w="12700">
            <a:solidFill>
              <a:srgbClr val="304867">
                <a:alpha val="6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2560320" y="4142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2779776" y="4078224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build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779776" y="4297680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standards embedded</a:t>
            </a:r>
            <a:endParaRPr lang="en-US" sz="870" dirty="0"/>
          </a:p>
        </p:txBody>
      </p:sp>
      <p:sp>
        <p:nvSpPr>
          <p:cNvPr id="21" name="Shape 18"/>
          <p:cNvSpPr/>
          <p:nvPr/>
        </p:nvSpPr>
        <p:spPr>
          <a:xfrm>
            <a:off x="4242816" y="3986784"/>
            <a:ext cx="1664208" cy="658368"/>
          </a:xfrm>
          <a:prstGeom prst="roundRect">
            <a:avLst>
              <a:gd name="adj" fmla="val 13889"/>
            </a:avLst>
          </a:prstGeom>
          <a:solidFill>
            <a:srgbClr val="0B1E36">
              <a:alpha val="94000"/>
            </a:srgbClr>
          </a:solidFill>
          <a:ln w="12700">
            <a:solidFill>
              <a:srgbClr val="304867">
                <a:alpha val="6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352544" y="4142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572000" y="4078224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Desktop-ready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572000" y="4297680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inside OpenFin Workspace</a:t>
            </a:r>
            <a:endParaRPr lang="en-US" sz="870" dirty="0"/>
          </a:p>
        </p:txBody>
      </p:sp>
      <p:sp>
        <p:nvSpPr>
          <p:cNvPr id="25" name="Shape 22"/>
          <p:cNvSpPr/>
          <p:nvPr/>
        </p:nvSpPr>
        <p:spPr>
          <a:xfrm>
            <a:off x="7479792" y="868680"/>
            <a:ext cx="4133088" cy="4645152"/>
          </a:xfrm>
          <a:prstGeom prst="roundRect">
            <a:avLst>
              <a:gd name="adj" fmla="val 2655"/>
            </a:avLst>
          </a:prstGeom>
          <a:solidFill>
            <a:srgbClr val="050D19">
              <a:alpha val="84000"/>
            </a:srgbClr>
          </a:solidFill>
          <a:ln w="12700">
            <a:solidFill>
              <a:srgbClr val="2E425E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565392" y="1316736"/>
            <a:ext cx="822960" cy="256032"/>
          </a:xfrm>
          <a:prstGeom prst="roundRect">
            <a:avLst>
              <a:gd name="adj" fmla="val 42857"/>
            </a:avLst>
          </a:prstGeom>
          <a:solidFill>
            <a:srgbClr val="FF6E76"/>
          </a:solidFill>
          <a:ln w="12700">
            <a:solidFill>
              <a:srgbClr val="FF6E7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565392" y="1325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6528816" y="2770632"/>
            <a:ext cx="841248" cy="256032"/>
          </a:xfrm>
          <a:prstGeom prst="roundRect">
            <a:avLst>
              <a:gd name="adj" fmla="val 42857"/>
            </a:avLst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528816" y="2779776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6729984" y="4224528"/>
            <a:ext cx="585216" cy="256032"/>
          </a:xfrm>
          <a:prstGeom prst="roundRect">
            <a:avLst>
              <a:gd name="adj" fmla="val 42857"/>
            </a:avLst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729984" y="423367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820" dirty="0"/>
          </a:p>
        </p:txBody>
      </p:sp>
      <p:sp>
        <p:nvSpPr>
          <p:cNvPr id="32" name="Shape 29"/>
          <p:cNvSpPr/>
          <p:nvPr/>
        </p:nvSpPr>
        <p:spPr>
          <a:xfrm>
            <a:off x="9518904" y="2331720"/>
            <a:ext cx="0" cy="512064"/>
          </a:xfrm>
          <a:prstGeom prst="line">
            <a:avLst/>
          </a:prstGeom>
          <a:noFill/>
          <a:ln w="12700">
            <a:solidFill>
              <a:srgbClr val="2BE5D8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9518904" y="3794760"/>
            <a:ext cx="0" cy="512064"/>
          </a:xfrm>
          <a:prstGeom prst="line">
            <a:avLst/>
          </a:prstGeom>
          <a:noFill/>
          <a:ln w="12700">
            <a:solidFill>
              <a:srgbClr val="67E58A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7827264" y="1261872"/>
            <a:ext cx="3383280" cy="1078992"/>
          </a:xfrm>
          <a:prstGeom prst="roundRect">
            <a:avLst>
              <a:gd name="adj" fmla="val 10169"/>
            </a:avLst>
          </a:prstGeom>
          <a:solidFill>
            <a:srgbClr val="09182B">
              <a:alpha val="94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blurRad="25400" dist="19050" dir="2700000" algn="bl" rotWithShape="0">
              <a:srgbClr val="000000">
                <a:alpha val="3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7827264" y="1261872"/>
            <a:ext cx="3383280" cy="73152"/>
          </a:xfrm>
          <a:prstGeom prst="rect">
            <a:avLst/>
          </a:prstGeom>
          <a:solidFill>
            <a:srgbClr val="FF6E76"/>
          </a:solidFill>
          <a:ln w="12700">
            <a:solidFill>
              <a:srgbClr val="FF6E7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8028432" y="1700784"/>
            <a:ext cx="2999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.NET UI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8028432" y="2029968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front-office screens</a:t>
            </a:r>
            <a:endParaRPr lang="en-US" sz="1080" dirty="0"/>
          </a:p>
        </p:txBody>
      </p:sp>
      <p:sp>
        <p:nvSpPr>
          <p:cNvPr id="38" name="Shape 35"/>
          <p:cNvSpPr/>
          <p:nvPr/>
        </p:nvSpPr>
        <p:spPr>
          <a:xfrm>
            <a:off x="7827264" y="2715768"/>
            <a:ext cx="3383280" cy="1078992"/>
          </a:xfrm>
          <a:prstGeom prst="roundRect">
            <a:avLst>
              <a:gd name="adj" fmla="val 10169"/>
            </a:avLst>
          </a:prstGeom>
          <a:solidFill>
            <a:srgbClr val="09182B">
              <a:alpha val="94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blurRad="322580000" dist="241935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7827264" y="2715768"/>
            <a:ext cx="3383280" cy="73152"/>
          </a:xfrm>
          <a:prstGeom prst="rect">
            <a:avLst/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8028432" y="3154680"/>
            <a:ext cx="2999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MFE</a:t>
            </a:r>
            <a:endParaRPr lang="en-US" sz="2000" dirty="0"/>
          </a:p>
        </p:txBody>
      </p:sp>
      <p:sp>
        <p:nvSpPr>
          <p:cNvPr id="41" name="Text 38"/>
          <p:cNvSpPr/>
          <p:nvPr/>
        </p:nvSpPr>
        <p:spPr>
          <a:xfrm>
            <a:off x="8028432" y="3483864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Figma Make + Macro MCP + libraries</a:t>
            </a:r>
            <a:endParaRPr lang="en-US" sz="1040" dirty="0"/>
          </a:p>
        </p:txBody>
      </p:sp>
      <p:sp>
        <p:nvSpPr>
          <p:cNvPr id="42" name="Shape 39"/>
          <p:cNvSpPr/>
          <p:nvPr/>
        </p:nvSpPr>
        <p:spPr>
          <a:xfrm>
            <a:off x="7827264" y="4169664"/>
            <a:ext cx="3383280" cy="1078992"/>
          </a:xfrm>
          <a:prstGeom prst="roundRect">
            <a:avLst>
              <a:gd name="adj" fmla="val 10169"/>
            </a:avLst>
          </a:prstGeom>
          <a:solidFill>
            <a:srgbClr val="09182B">
              <a:alpha val="94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0"/>
          <p:cNvSpPr/>
          <p:nvPr/>
        </p:nvSpPr>
        <p:spPr>
          <a:xfrm>
            <a:off x="7827264" y="4169664"/>
            <a:ext cx="3383280" cy="73152"/>
          </a:xfrm>
          <a:prstGeom prst="rect">
            <a:avLst/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/>
          <p:nvPr/>
        </p:nvSpPr>
        <p:spPr>
          <a:xfrm>
            <a:off x="8028432" y="4608576"/>
            <a:ext cx="2999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Desktop</a:t>
            </a:r>
            <a:endParaRPr lang="en-US" sz="2000" dirty="0"/>
          </a:p>
        </p:txBody>
      </p:sp>
      <p:sp>
        <p:nvSpPr>
          <p:cNvPr id="45" name="Text 42"/>
          <p:cNvSpPr/>
          <p:nvPr/>
        </p:nvSpPr>
        <p:spPr>
          <a:xfrm>
            <a:off x="8028432" y="493776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OpenFin Workspace runtime</a:t>
            </a:r>
            <a:endParaRPr lang="en-US" sz="1060" dirty="0"/>
          </a:p>
        </p:txBody>
      </p:sp>
      <p:sp>
        <p:nvSpPr>
          <p:cNvPr id="46" name="Shape 43"/>
          <p:cNvSpPr/>
          <p:nvPr/>
        </p:nvSpPr>
        <p:spPr>
          <a:xfrm>
            <a:off x="658368" y="6071616"/>
            <a:ext cx="768096" cy="256032"/>
          </a:xfrm>
          <a:prstGeom prst="roundRect">
            <a:avLst>
              <a:gd name="adj" fmla="val 42857"/>
            </a:avLst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658368" y="6080760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Figma Make</a:t>
            </a:r>
            <a:endParaRPr lang="en-US" sz="780" dirty="0"/>
          </a:p>
        </p:txBody>
      </p:sp>
      <p:sp>
        <p:nvSpPr>
          <p:cNvPr id="48" name="Shape 45"/>
          <p:cNvSpPr/>
          <p:nvPr/>
        </p:nvSpPr>
        <p:spPr>
          <a:xfrm>
            <a:off x="1536192" y="6071616"/>
            <a:ext cx="1133856" cy="256032"/>
          </a:xfrm>
          <a:prstGeom prst="roundRect">
            <a:avLst>
              <a:gd name="adj" fmla="val 42857"/>
            </a:avLst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1536192" y="6080760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MCP Server</a:t>
            </a:r>
            <a:endParaRPr lang="en-US" sz="780" dirty="0"/>
          </a:p>
        </p:txBody>
      </p:sp>
      <p:sp>
        <p:nvSpPr>
          <p:cNvPr id="50" name="Shape 47"/>
          <p:cNvSpPr/>
          <p:nvPr/>
        </p:nvSpPr>
        <p:spPr>
          <a:xfrm>
            <a:off x="2788920" y="6071616"/>
            <a:ext cx="1188720" cy="256032"/>
          </a:xfrm>
          <a:prstGeom prst="roundRect">
            <a:avLst>
              <a:gd name="adj" fmla="val 42857"/>
            </a:avLst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2788920" y="60807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MFE Libraries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4105656" y="6071616"/>
            <a:ext cx="603504" cy="256032"/>
          </a:xfrm>
          <a:prstGeom prst="roundRect">
            <a:avLst>
              <a:gd name="adj" fmla="val 42857"/>
            </a:avLst>
          </a:prstGeom>
          <a:solidFill>
            <a:srgbClr val="6E7B8D"/>
          </a:solidFill>
          <a:ln w="12700">
            <a:solidFill>
              <a:srgbClr val="6E7B8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4105656" y="6080760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</a:t>
            </a:r>
            <a:endParaRPr lang="en-US" sz="780" dirty="0"/>
          </a:p>
        </p:txBody>
      </p:sp>
      <p:sp>
        <p:nvSpPr>
          <p:cNvPr id="54" name="Shape 51"/>
          <p:cNvSpPr/>
          <p:nvPr/>
        </p:nvSpPr>
        <p:spPr>
          <a:xfrm>
            <a:off x="4828032" y="6071616"/>
            <a:ext cx="713232" cy="256032"/>
          </a:xfrm>
          <a:prstGeom prst="roundRect">
            <a:avLst>
              <a:gd name="adj" fmla="val 42857"/>
            </a:avLst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4828032" y="608076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OpenShift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5596128" y="6071616"/>
            <a:ext cx="804672" cy="256032"/>
          </a:xfrm>
          <a:prstGeom prst="roundRect">
            <a:avLst>
              <a:gd name="adj" fmla="val 42857"/>
            </a:avLst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5596128" y="608076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OpenFin Workspace</a:t>
            </a:r>
            <a:endParaRPr lang="en-US" sz="780" dirty="0"/>
          </a:p>
        </p:txBody>
      </p:sp>
      <p:sp>
        <p:nvSpPr>
          <p:cNvPr id="58" name="Text 55"/>
          <p:cNvSpPr/>
          <p:nvPr/>
        </p:nvSpPr>
        <p:spPr>
          <a:xfrm>
            <a:off x="11814048" y="6547104"/>
            <a:ext cx="128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E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5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95760" y="6537960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F90A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acro_ultra_modern_work/assets/bg2_dark.png"/>
          <p:cNvPicPr>
            <a:picLocks noChangeAspect="1"/>
          </p:cNvPicPr>
          <p:nvPr/>
        </p:nvPicPr>
        <p:blipFill>
          <a:blip r:embed="rId3"/>
          <a:srcRect l="48" r="48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438339" cy="77724"/>
          </a:xfrm>
          <a:prstGeom prst="rect">
            <a:avLst/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2438339" y="0"/>
            <a:ext cx="2438339" cy="77724"/>
          </a:xfrm>
          <a:prstGeom prst="rect">
            <a:avLst/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876678" y="0"/>
            <a:ext cx="2438339" cy="77724"/>
          </a:xfrm>
          <a:prstGeom prst="rect">
            <a:avLst/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315017" y="0"/>
            <a:ext cx="2438339" cy="77724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9753356" y="0"/>
            <a:ext cx="2438339" cy="77724"/>
          </a:xfrm>
          <a:prstGeom prst="rect">
            <a:avLst/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108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AGENTIC UI FACTORY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58368" y="64008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agentic UI factory works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676656" y="1024128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accelerates the repetitive UI work; Macro standards, libraries, and platform hooks keep the output production-ready.</a:t>
            </a:r>
            <a:endParaRPr lang="en-US" sz="1240" dirty="0"/>
          </a:p>
        </p:txBody>
      </p:sp>
      <p:sp>
        <p:nvSpPr>
          <p:cNvPr id="11" name="Shape 8"/>
          <p:cNvSpPr/>
          <p:nvPr/>
        </p:nvSpPr>
        <p:spPr>
          <a:xfrm>
            <a:off x="2121408" y="2615184"/>
            <a:ext cx="118872" cy="0"/>
          </a:xfrm>
          <a:prstGeom prst="line">
            <a:avLst/>
          </a:prstGeom>
          <a:noFill/>
          <a:ln w="12700">
            <a:solidFill>
              <a:srgbClr val="2BE5D8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739896" y="2615184"/>
            <a:ext cx="118872" cy="0"/>
          </a:xfrm>
          <a:prstGeom prst="line">
            <a:avLst/>
          </a:prstGeom>
          <a:noFill/>
          <a:ln w="12700">
            <a:solidFill>
              <a:srgbClr val="8E7B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358384" y="2615184"/>
            <a:ext cx="118872" cy="0"/>
          </a:xfrm>
          <a:prstGeom prst="line">
            <a:avLst/>
          </a:prstGeom>
          <a:noFill/>
          <a:ln w="12700">
            <a:solidFill>
              <a:srgbClr val="55A6FF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976872" y="2615184"/>
            <a:ext cx="118872" cy="0"/>
          </a:xfrm>
          <a:prstGeom prst="line">
            <a:avLst/>
          </a:prstGeom>
          <a:noFill/>
          <a:ln w="12700">
            <a:solidFill>
              <a:srgbClr val="FFC04D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604504" y="2615184"/>
            <a:ext cx="1417320" cy="0"/>
          </a:xfrm>
          <a:prstGeom prst="line">
            <a:avLst/>
          </a:prstGeom>
          <a:noFill/>
          <a:ln w="12700">
            <a:solidFill>
              <a:srgbClr val="67E58A">
                <a:alpha val="8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58368" y="1508760"/>
            <a:ext cx="1426464" cy="256032"/>
          </a:xfrm>
          <a:prstGeom prst="roundRect">
            <a:avLst>
              <a:gd name="adj" fmla="val 42857"/>
            </a:avLst>
          </a:prstGeom>
          <a:solidFill>
            <a:srgbClr val="FF6E76"/>
          </a:solidFill>
          <a:ln w="12700">
            <a:solidFill>
              <a:srgbClr val="FF6E7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58368" y="1517904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2276856" y="1508760"/>
            <a:ext cx="1426464" cy="256032"/>
          </a:xfrm>
          <a:prstGeom prst="roundRect">
            <a:avLst>
              <a:gd name="adj" fmla="val 42857"/>
            </a:avLst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2276856" y="1517904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DESIGN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3895344" y="1508760"/>
            <a:ext cx="1426464" cy="256032"/>
          </a:xfrm>
          <a:prstGeom prst="roundRect">
            <a:avLst>
              <a:gd name="adj" fmla="val 42857"/>
            </a:avLst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895344" y="1517904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5513832" y="1508760"/>
            <a:ext cx="1426464" cy="256032"/>
          </a:xfrm>
          <a:prstGeom prst="roundRect">
            <a:avLst>
              <a:gd name="adj" fmla="val 42857"/>
            </a:avLst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513832" y="1517904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COMPOSE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7132320" y="1508760"/>
            <a:ext cx="1426464" cy="256032"/>
          </a:xfrm>
          <a:prstGeom prst="roundRect">
            <a:avLst>
              <a:gd name="adj" fmla="val 42857"/>
            </a:avLst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132320" y="1517904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9235440" y="1261872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9235440" y="1271016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58368" y="1901952"/>
            <a:ext cx="1426464" cy="1426464"/>
          </a:xfrm>
          <a:prstGeom prst="roundRect">
            <a:avLst>
              <a:gd name="adj" fmla="val 7692"/>
            </a:avLst>
          </a:prstGeom>
          <a:solidFill>
            <a:srgbClr val="09182B">
              <a:alpha val="92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658368" y="1901952"/>
            <a:ext cx="1426464" cy="73152"/>
          </a:xfrm>
          <a:prstGeom prst="rect">
            <a:avLst/>
          </a:prstGeom>
          <a:solidFill>
            <a:srgbClr val="FF6E76"/>
          </a:solidFill>
          <a:ln w="12700">
            <a:solidFill>
              <a:srgbClr val="FF6E7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822960" y="2048256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FF6E76"/>
          </a:solidFill>
          <a:ln w="12700">
            <a:solidFill>
              <a:srgbClr val="FF6E7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822960" y="20574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59536" y="234086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Intake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859536" y="2688336"/>
            <a:ext cx="1024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Legacy screen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+ criteria</a:t>
            </a:r>
            <a:endParaRPr lang="en-US" sz="920" dirty="0"/>
          </a:p>
        </p:txBody>
      </p:sp>
      <p:sp>
        <p:nvSpPr>
          <p:cNvPr id="34" name="Shape 31"/>
          <p:cNvSpPr/>
          <p:nvPr/>
        </p:nvSpPr>
        <p:spPr>
          <a:xfrm>
            <a:off x="2276856" y="1901952"/>
            <a:ext cx="1426464" cy="1426464"/>
          </a:xfrm>
          <a:prstGeom prst="roundRect">
            <a:avLst>
              <a:gd name="adj" fmla="val 7692"/>
            </a:avLst>
          </a:prstGeom>
          <a:solidFill>
            <a:srgbClr val="09182B">
              <a:alpha val="92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2276856" y="1901952"/>
            <a:ext cx="1426464" cy="73152"/>
          </a:xfrm>
          <a:prstGeom prst="rect">
            <a:avLst/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2441448" y="2048256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2441448" y="20574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2478024" y="234086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Figma Make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2478024" y="2688336"/>
            <a:ext cx="1024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First-pass UI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variants + flows</a:t>
            </a:r>
            <a:endParaRPr lang="en-US" sz="920" dirty="0"/>
          </a:p>
        </p:txBody>
      </p:sp>
      <p:sp>
        <p:nvSpPr>
          <p:cNvPr id="40" name="Shape 37"/>
          <p:cNvSpPr/>
          <p:nvPr/>
        </p:nvSpPr>
        <p:spPr>
          <a:xfrm>
            <a:off x="3895344" y="1901952"/>
            <a:ext cx="1426464" cy="1426464"/>
          </a:xfrm>
          <a:prstGeom prst="roundRect">
            <a:avLst>
              <a:gd name="adj" fmla="val 7692"/>
            </a:avLst>
          </a:prstGeom>
          <a:solidFill>
            <a:srgbClr val="09182B">
              <a:alpha val="92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3895344" y="1901952"/>
            <a:ext cx="1426464" cy="73152"/>
          </a:xfrm>
          <a:prstGeom prst="rect">
            <a:avLst/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4059936" y="2048256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059936" y="20574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096512" y="234086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MCP</a:t>
            </a:r>
            <a:endParaRPr lang="en-US" sz="1320" dirty="0"/>
          </a:p>
        </p:txBody>
      </p:sp>
      <p:sp>
        <p:nvSpPr>
          <p:cNvPr id="45" name="Text 42"/>
          <p:cNvSpPr/>
          <p:nvPr/>
        </p:nvSpPr>
        <p:spPr>
          <a:xfrm>
            <a:off x="4096512" y="2688336"/>
            <a:ext cx="1024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routes + desktop hooks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5513832" y="1901952"/>
            <a:ext cx="1426464" cy="1426464"/>
          </a:xfrm>
          <a:prstGeom prst="roundRect">
            <a:avLst>
              <a:gd name="adj" fmla="val 7692"/>
            </a:avLst>
          </a:prstGeom>
          <a:solidFill>
            <a:srgbClr val="09182B">
              <a:alpha val="92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5513832" y="1901952"/>
            <a:ext cx="1426464" cy="73152"/>
          </a:xfrm>
          <a:prstGeom prst="rect">
            <a:avLst/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5678424" y="2048256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5678424" y="20574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715000" y="234086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MFE libraries</a:t>
            </a:r>
            <a:endParaRPr lang="en-US" sz="1320" dirty="0"/>
          </a:p>
        </p:txBody>
      </p:sp>
      <p:sp>
        <p:nvSpPr>
          <p:cNvPr id="51" name="Text 48"/>
          <p:cNvSpPr/>
          <p:nvPr/>
        </p:nvSpPr>
        <p:spPr>
          <a:xfrm>
            <a:off x="5715000" y="2688336"/>
            <a:ext cx="1024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Auth, logger, grid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 + components</a:t>
            </a:r>
            <a:endParaRPr lang="en-US" sz="920" dirty="0"/>
          </a:p>
        </p:txBody>
      </p:sp>
      <p:sp>
        <p:nvSpPr>
          <p:cNvPr id="52" name="Shape 49"/>
          <p:cNvSpPr/>
          <p:nvPr/>
        </p:nvSpPr>
        <p:spPr>
          <a:xfrm>
            <a:off x="7132320" y="1901952"/>
            <a:ext cx="1426464" cy="1426464"/>
          </a:xfrm>
          <a:prstGeom prst="roundRect">
            <a:avLst>
              <a:gd name="adj" fmla="val 7692"/>
            </a:avLst>
          </a:prstGeom>
          <a:solidFill>
            <a:srgbClr val="09182B">
              <a:alpha val="92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0"/>
          <p:cNvSpPr/>
          <p:nvPr/>
        </p:nvSpPr>
        <p:spPr>
          <a:xfrm>
            <a:off x="7132320" y="1901952"/>
            <a:ext cx="1426464" cy="73152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7296912" y="2048256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7296912" y="205740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7333488" y="2340864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6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+</a:t>
            </a:r>
            <a:endParaRPr lang="en-US" sz="1260" dirty="0"/>
          </a:p>
          <a:p>
            <a:pPr marL="0" indent="0">
              <a:buNone/>
            </a:pPr>
            <a:r>
              <a:rPr lang="en-US" sz="126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OpenShift</a:t>
            </a:r>
            <a:endParaRPr lang="en-US" sz="1260" dirty="0"/>
          </a:p>
        </p:txBody>
      </p:sp>
      <p:sp>
        <p:nvSpPr>
          <p:cNvPr id="57" name="Text 54"/>
          <p:cNvSpPr/>
          <p:nvPr/>
        </p:nvSpPr>
        <p:spPr>
          <a:xfrm>
            <a:off x="7333488" y="2688336"/>
            <a:ext cx="1024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Repo, PR, tests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+ deploy</a:t>
            </a:r>
            <a:endParaRPr lang="en-US" sz="920" dirty="0"/>
          </a:p>
        </p:txBody>
      </p:sp>
      <p:sp>
        <p:nvSpPr>
          <p:cNvPr id="58" name="Shape 55"/>
          <p:cNvSpPr/>
          <p:nvPr/>
        </p:nvSpPr>
        <p:spPr>
          <a:xfrm>
            <a:off x="9189720" y="1664208"/>
            <a:ext cx="2331720" cy="2121408"/>
          </a:xfrm>
          <a:prstGeom prst="roundRect">
            <a:avLst>
              <a:gd name="adj" fmla="val 5172"/>
            </a:avLst>
          </a:prstGeom>
          <a:solidFill>
            <a:srgbClr val="0B1E36">
              <a:alpha val="96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9189720" y="1664208"/>
            <a:ext cx="2331720" cy="73152"/>
          </a:xfrm>
          <a:prstGeom prst="rect">
            <a:avLst/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/>
          <p:nvPr/>
        </p:nvSpPr>
        <p:spPr>
          <a:xfrm>
            <a:off x="9390888" y="2103120"/>
            <a:ext cx="1947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Desktop</a:t>
            </a:r>
            <a:endParaRPr lang="en-US" sz="1920" dirty="0"/>
          </a:p>
        </p:txBody>
      </p:sp>
      <p:sp>
        <p:nvSpPr>
          <p:cNvPr id="61" name="Text 58"/>
          <p:cNvSpPr/>
          <p:nvPr/>
        </p:nvSpPr>
        <p:spPr>
          <a:xfrm>
            <a:off x="9390888" y="2432304"/>
            <a:ext cx="1929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 Angular / React MFEs in OpenFin Workspace</a:t>
            </a:r>
            <a:endParaRPr lang="en-US" sz="980" dirty="0"/>
          </a:p>
        </p:txBody>
      </p:sp>
      <p:sp>
        <p:nvSpPr>
          <p:cNvPr id="62" name="Shape 59"/>
          <p:cNvSpPr/>
          <p:nvPr/>
        </p:nvSpPr>
        <p:spPr>
          <a:xfrm>
            <a:off x="9436608" y="2798064"/>
            <a:ext cx="1847088" cy="768096"/>
          </a:xfrm>
          <a:prstGeom prst="roundRect">
            <a:avLst>
              <a:gd name="adj" fmla="val 11905"/>
            </a:avLst>
          </a:prstGeom>
          <a:solidFill>
            <a:srgbClr val="102744">
              <a:alpha val="96000"/>
            </a:srgbClr>
          </a:solidFill>
          <a:ln w="12700">
            <a:solidFill>
              <a:srgbClr val="304867">
                <a:alpha val="7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528048" y="2907792"/>
            <a:ext cx="621792" cy="256032"/>
          </a:xfrm>
          <a:prstGeom prst="roundRect">
            <a:avLst>
              <a:gd name="adj" fmla="val 42857"/>
            </a:avLst>
          </a:prstGeom>
          <a:solidFill>
            <a:srgbClr val="173758"/>
          </a:solidFill>
          <a:ln w="12700">
            <a:solidFill>
              <a:srgbClr val="1737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9528048" y="2916936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Storefront</a:t>
            </a:r>
            <a:endParaRPr lang="en-US" sz="700" dirty="0"/>
          </a:p>
        </p:txBody>
      </p:sp>
      <p:sp>
        <p:nvSpPr>
          <p:cNvPr id="65" name="Shape 62"/>
          <p:cNvSpPr/>
          <p:nvPr/>
        </p:nvSpPr>
        <p:spPr>
          <a:xfrm>
            <a:off x="10195560" y="2907792"/>
            <a:ext cx="384048" cy="256032"/>
          </a:xfrm>
          <a:prstGeom prst="roundRect">
            <a:avLst>
              <a:gd name="adj" fmla="val 42857"/>
            </a:avLst>
          </a:prstGeom>
          <a:solidFill>
            <a:srgbClr val="173758"/>
          </a:solidFill>
          <a:ln w="12700">
            <a:solidFill>
              <a:srgbClr val="1737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3"/>
          <p:cNvSpPr/>
          <p:nvPr/>
        </p:nvSpPr>
        <p:spPr>
          <a:xfrm>
            <a:off x="10195560" y="2916936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Dock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10625328" y="2907792"/>
            <a:ext cx="566928" cy="256032"/>
          </a:xfrm>
          <a:prstGeom prst="roundRect">
            <a:avLst>
              <a:gd name="adj" fmla="val 42857"/>
            </a:avLst>
          </a:prstGeom>
          <a:solidFill>
            <a:srgbClr val="173758"/>
          </a:solidFill>
          <a:ln w="12700">
            <a:solidFill>
              <a:srgbClr val="1737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5"/>
          <p:cNvSpPr/>
          <p:nvPr/>
        </p:nvSpPr>
        <p:spPr>
          <a:xfrm>
            <a:off x="10625328" y="291693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 link</a:t>
            </a:r>
            <a:endParaRPr lang="en-US" sz="700" dirty="0"/>
          </a:p>
        </p:txBody>
      </p:sp>
      <p:sp>
        <p:nvSpPr>
          <p:cNvPr id="69" name="Shape 66"/>
          <p:cNvSpPr/>
          <p:nvPr/>
        </p:nvSpPr>
        <p:spPr>
          <a:xfrm>
            <a:off x="9674352" y="3163824"/>
            <a:ext cx="402336" cy="256032"/>
          </a:xfrm>
          <a:prstGeom prst="roundRect">
            <a:avLst>
              <a:gd name="adj" fmla="val 42857"/>
            </a:avLst>
          </a:prstGeom>
          <a:solidFill>
            <a:srgbClr val="173758"/>
          </a:solidFill>
          <a:ln w="12700">
            <a:solidFill>
              <a:srgbClr val="1737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7"/>
          <p:cNvSpPr/>
          <p:nvPr/>
        </p:nvSpPr>
        <p:spPr>
          <a:xfrm>
            <a:off x="9674352" y="3172968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FDC3</a:t>
            </a:r>
            <a:endParaRPr lang="en-US" sz="700" dirty="0"/>
          </a:p>
        </p:txBody>
      </p:sp>
      <p:sp>
        <p:nvSpPr>
          <p:cNvPr id="71" name="Shape 68"/>
          <p:cNvSpPr/>
          <p:nvPr/>
        </p:nvSpPr>
        <p:spPr>
          <a:xfrm>
            <a:off x="10131552" y="3163824"/>
            <a:ext cx="768096" cy="256032"/>
          </a:xfrm>
          <a:prstGeom prst="roundRect">
            <a:avLst>
              <a:gd name="adj" fmla="val 42857"/>
            </a:avLst>
          </a:prstGeom>
          <a:solidFill>
            <a:srgbClr val="173758"/>
          </a:solidFill>
          <a:ln w="12700">
            <a:solidFill>
              <a:srgbClr val="17375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9"/>
          <p:cNvSpPr/>
          <p:nvPr/>
        </p:nvSpPr>
        <p:spPr>
          <a:xfrm>
            <a:off x="10131552" y="3172968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Entitlements</a:t>
            </a:r>
            <a:endParaRPr lang="en-US" sz="700" dirty="0"/>
          </a:p>
        </p:txBody>
      </p:sp>
      <p:sp>
        <p:nvSpPr>
          <p:cNvPr id="73" name="Shape 70"/>
          <p:cNvSpPr/>
          <p:nvPr/>
        </p:nvSpPr>
        <p:spPr>
          <a:xfrm>
            <a:off x="658368" y="4224528"/>
            <a:ext cx="10863072" cy="365760"/>
          </a:xfrm>
          <a:prstGeom prst="roundRect">
            <a:avLst>
              <a:gd name="adj" fmla="val 30000"/>
            </a:avLst>
          </a:prstGeom>
          <a:solidFill>
            <a:srgbClr val="0B1E36">
              <a:alpha val="90000"/>
            </a:srgbClr>
          </a:solidFill>
          <a:ln w="12700">
            <a:solidFill>
              <a:srgbClr val="304867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1"/>
          <p:cNvSpPr/>
          <p:nvPr/>
        </p:nvSpPr>
        <p:spPr>
          <a:xfrm>
            <a:off x="841248" y="4297680"/>
            <a:ext cx="10497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gates stay in control: UX sign-off • security / auth • PR quality • desktop UAT</a:t>
            </a:r>
            <a:endParaRPr lang="en-US" sz="960" dirty="0"/>
          </a:p>
        </p:txBody>
      </p:sp>
      <p:sp>
        <p:nvSpPr>
          <p:cNvPr id="75" name="Shape 72"/>
          <p:cNvSpPr/>
          <p:nvPr/>
        </p:nvSpPr>
        <p:spPr>
          <a:xfrm>
            <a:off x="658368" y="5029200"/>
            <a:ext cx="2697480" cy="658368"/>
          </a:xfrm>
          <a:prstGeom prst="roundRect">
            <a:avLst>
              <a:gd name="adj" fmla="val 13889"/>
            </a:avLst>
          </a:prstGeom>
          <a:solidFill>
            <a:srgbClr val="0B1E36">
              <a:alpha val="94000"/>
            </a:srgbClr>
          </a:solidFill>
          <a:ln w="12700">
            <a:solidFill>
              <a:srgbClr val="304867">
                <a:alpha val="6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3"/>
          <p:cNvSpPr/>
          <p:nvPr/>
        </p:nvSpPr>
        <p:spPr>
          <a:xfrm>
            <a:off x="768096" y="51846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4"/>
          <p:cNvSpPr/>
          <p:nvPr/>
        </p:nvSpPr>
        <p:spPr>
          <a:xfrm>
            <a:off x="987552" y="5120640"/>
            <a:ext cx="2258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greenfield coding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987552" y="5340096"/>
            <a:ext cx="2258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boilerplate becomes scaffolded + reused</a:t>
            </a:r>
            <a:endParaRPr lang="en-US" sz="870" dirty="0"/>
          </a:p>
        </p:txBody>
      </p:sp>
      <p:sp>
        <p:nvSpPr>
          <p:cNvPr id="79" name="Shape 76"/>
          <p:cNvSpPr/>
          <p:nvPr/>
        </p:nvSpPr>
        <p:spPr>
          <a:xfrm>
            <a:off x="3520440" y="5029200"/>
            <a:ext cx="2697480" cy="658368"/>
          </a:xfrm>
          <a:prstGeom prst="roundRect">
            <a:avLst>
              <a:gd name="adj" fmla="val 13889"/>
            </a:avLst>
          </a:prstGeom>
          <a:solidFill>
            <a:srgbClr val="0B1E36">
              <a:alpha val="94000"/>
            </a:srgbClr>
          </a:solidFill>
          <a:ln w="12700">
            <a:solidFill>
              <a:srgbClr val="304867">
                <a:alpha val="6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7"/>
          <p:cNvSpPr/>
          <p:nvPr/>
        </p:nvSpPr>
        <p:spPr>
          <a:xfrm>
            <a:off x="3630168" y="51846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8"/>
          <p:cNvSpPr/>
          <p:nvPr/>
        </p:nvSpPr>
        <p:spPr>
          <a:xfrm>
            <a:off x="3849624" y="5120640"/>
            <a:ext cx="2258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Standardized UX</a:t>
            </a:r>
            <a:endParaRPr lang="en-US" sz="1050" dirty="0"/>
          </a:p>
        </p:txBody>
      </p:sp>
      <p:sp>
        <p:nvSpPr>
          <p:cNvPr id="82" name="Text 79"/>
          <p:cNvSpPr/>
          <p:nvPr/>
        </p:nvSpPr>
        <p:spPr>
          <a:xfrm>
            <a:off x="3849624" y="5340096"/>
            <a:ext cx="2258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tokens and components keep parity</a:t>
            </a:r>
            <a:endParaRPr lang="en-US" sz="870" dirty="0"/>
          </a:p>
        </p:txBody>
      </p:sp>
      <p:sp>
        <p:nvSpPr>
          <p:cNvPr id="83" name="Shape 80"/>
          <p:cNvSpPr/>
          <p:nvPr/>
        </p:nvSpPr>
        <p:spPr>
          <a:xfrm>
            <a:off x="6382512" y="5029200"/>
            <a:ext cx="2697480" cy="658368"/>
          </a:xfrm>
          <a:prstGeom prst="roundRect">
            <a:avLst>
              <a:gd name="adj" fmla="val 13889"/>
            </a:avLst>
          </a:prstGeom>
          <a:solidFill>
            <a:srgbClr val="0B1E36">
              <a:alpha val="94000"/>
            </a:srgbClr>
          </a:solidFill>
          <a:ln w="12700">
            <a:solidFill>
              <a:srgbClr val="304867">
                <a:alpha val="6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1"/>
          <p:cNvSpPr/>
          <p:nvPr/>
        </p:nvSpPr>
        <p:spPr>
          <a:xfrm>
            <a:off x="6492240" y="51846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2"/>
          <p:cNvSpPr/>
          <p:nvPr/>
        </p:nvSpPr>
        <p:spPr>
          <a:xfrm>
            <a:off x="6711696" y="5120640"/>
            <a:ext cx="2258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handoffs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6711696" y="5340096"/>
            <a:ext cx="2258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design-to-code moves in one flow</a:t>
            </a:r>
            <a:endParaRPr lang="en-US" sz="870" dirty="0"/>
          </a:p>
        </p:txBody>
      </p:sp>
      <p:sp>
        <p:nvSpPr>
          <p:cNvPr id="87" name="Shape 84"/>
          <p:cNvSpPr/>
          <p:nvPr/>
        </p:nvSpPr>
        <p:spPr>
          <a:xfrm>
            <a:off x="9244584" y="5029200"/>
            <a:ext cx="2286000" cy="658368"/>
          </a:xfrm>
          <a:prstGeom prst="roundRect">
            <a:avLst>
              <a:gd name="adj" fmla="val 13889"/>
            </a:avLst>
          </a:prstGeom>
          <a:solidFill>
            <a:srgbClr val="0B1E36">
              <a:alpha val="94000"/>
            </a:srgbClr>
          </a:solidFill>
          <a:ln w="12700">
            <a:solidFill>
              <a:srgbClr val="304867">
                <a:alpha val="6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5"/>
          <p:cNvSpPr/>
          <p:nvPr/>
        </p:nvSpPr>
        <p:spPr>
          <a:xfrm>
            <a:off x="9354312" y="51846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6"/>
          <p:cNvSpPr/>
          <p:nvPr/>
        </p:nvSpPr>
        <p:spPr>
          <a:xfrm>
            <a:off x="9573768" y="5120640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Desktop-ready delivery</a:t>
            </a:r>
            <a:endParaRPr lang="en-US" sz="1050" dirty="0"/>
          </a:p>
        </p:txBody>
      </p:sp>
      <p:sp>
        <p:nvSpPr>
          <p:cNvPr id="90" name="Text 87"/>
          <p:cNvSpPr/>
          <p:nvPr/>
        </p:nvSpPr>
        <p:spPr>
          <a:xfrm>
            <a:off x="9573768" y="5340096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 and runtime hooks are built in</a:t>
            </a:r>
            <a:endParaRPr lang="en-US" sz="870" dirty="0"/>
          </a:p>
        </p:txBody>
      </p:sp>
      <p:sp>
        <p:nvSpPr>
          <p:cNvPr id="91" name="Text 88"/>
          <p:cNvSpPr/>
          <p:nvPr/>
        </p:nvSpPr>
        <p:spPr>
          <a:xfrm>
            <a:off x="11814048" y="6547104"/>
            <a:ext cx="128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E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50" dirty="0"/>
          </a:p>
        </p:txBody>
      </p:sp>
      <p:sp>
        <p:nvSpPr>
          <p:cNvPr id="9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95760" y="6537960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F90A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acro_ultra_modern_work/assets/bg3_dark.png"/>
          <p:cNvPicPr>
            <a:picLocks noChangeAspect="1"/>
          </p:cNvPicPr>
          <p:nvPr/>
        </p:nvPicPr>
        <p:blipFill>
          <a:blip r:embed="rId3"/>
          <a:srcRect t="29687" b="2968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2438339" cy="77724"/>
          </a:xfrm>
          <a:prstGeom prst="rect">
            <a:avLst/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2438339" y="0"/>
            <a:ext cx="2438339" cy="77724"/>
          </a:xfrm>
          <a:prstGeom prst="rect">
            <a:avLst/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876678" y="0"/>
            <a:ext cx="2438339" cy="77724"/>
          </a:xfrm>
          <a:prstGeom prst="rect">
            <a:avLst/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315017" y="0"/>
            <a:ext cx="2438339" cy="77724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9753356" y="0"/>
            <a:ext cx="2438339" cy="77724"/>
          </a:xfrm>
          <a:prstGeom prst="rect">
            <a:avLst/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108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5A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ONE-PAGE DELIVERY MODEL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58368" y="566928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One-page task outline for the new</a:t>
            </a:r>
            <a:endParaRPr lang="en-US" sz="2300" dirty="0"/>
          </a:p>
          <a:p>
            <a:pPr marL="0" indent="0">
              <a:buNone/>
            </a:pPr>
            <a:r>
              <a:rPr lang="en-US" sz="230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676656" y="12801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 stays controlled by Macro teams, but more of the delivery path becomes standardized, reusable, and agent-assisted.</a:t>
            </a:r>
            <a:endParaRPr lang="en-US" sz="1220" dirty="0"/>
          </a:p>
        </p:txBody>
      </p:sp>
      <p:sp>
        <p:nvSpPr>
          <p:cNvPr id="11" name="Shape 8"/>
          <p:cNvSpPr/>
          <p:nvPr/>
        </p:nvSpPr>
        <p:spPr>
          <a:xfrm>
            <a:off x="658368" y="1755648"/>
            <a:ext cx="5266944" cy="1170432"/>
          </a:xfrm>
          <a:prstGeom prst="roundRect">
            <a:avLst>
              <a:gd name="adj" fmla="val 9375"/>
            </a:avLst>
          </a:prstGeom>
          <a:solidFill>
            <a:srgbClr val="0B1E36">
              <a:alpha val="93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1755648"/>
            <a:ext cx="5266944" cy="73152"/>
          </a:xfrm>
          <a:prstGeom prst="rect">
            <a:avLst/>
          </a:prstGeom>
          <a:solidFill>
            <a:srgbClr val="FF6E76"/>
          </a:solidFill>
          <a:ln w="12700">
            <a:solidFill>
              <a:srgbClr val="FF6E7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822960" y="1901952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FF6E76"/>
          </a:solidFill>
          <a:ln w="12700">
            <a:solidFill>
              <a:srgbClr val="FF6E7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22960" y="191109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882896" y="1901952"/>
            <a:ext cx="877824" cy="219456"/>
          </a:xfrm>
          <a:prstGeom prst="roundRect">
            <a:avLst>
              <a:gd name="adj" fmla="val 33333"/>
            </a:avLst>
          </a:prstGeom>
          <a:solidFill>
            <a:srgbClr val="FF6E76"/>
          </a:solidFill>
          <a:ln w="12700">
            <a:solidFill>
              <a:srgbClr val="FF6E7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82896" y="1911096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+ UX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859536" y="2194560"/>
            <a:ext cx="4882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Intake &amp; prompt pack</a:t>
            </a:r>
            <a:endParaRPr lang="en-US" sz="1720" dirty="0"/>
          </a:p>
        </p:txBody>
      </p:sp>
      <p:sp>
        <p:nvSpPr>
          <p:cNvPr id="18" name="Text 15"/>
          <p:cNvSpPr/>
          <p:nvPr/>
        </p:nvSpPr>
        <p:spPr>
          <a:xfrm>
            <a:off x="859536" y="2542032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Capture the legacy screen, workflow, and success criteria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Gather sample payloads, desktop context, and UX rules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6272784" y="1755648"/>
            <a:ext cx="5266944" cy="1170432"/>
          </a:xfrm>
          <a:prstGeom prst="roundRect">
            <a:avLst>
              <a:gd name="adj" fmla="val 9375"/>
            </a:avLst>
          </a:prstGeom>
          <a:solidFill>
            <a:srgbClr val="0B1E36">
              <a:alpha val="93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6272784" y="1755648"/>
            <a:ext cx="5266944" cy="73152"/>
          </a:xfrm>
          <a:prstGeom prst="rect">
            <a:avLst/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437376" y="1901952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437376" y="191109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10607040" y="1901952"/>
            <a:ext cx="768096" cy="219456"/>
          </a:xfrm>
          <a:prstGeom prst="roundRect">
            <a:avLst>
              <a:gd name="adj" fmla="val 33333"/>
            </a:avLst>
          </a:prstGeom>
          <a:solidFill>
            <a:srgbClr val="2BE5D8"/>
          </a:solidFill>
          <a:ln w="12700">
            <a:solidFill>
              <a:srgbClr val="2BE5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10607040" y="1911096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+ UX</a:t>
            </a:r>
            <a:endParaRPr lang="en-US" sz="820" dirty="0"/>
          </a:p>
        </p:txBody>
      </p:sp>
      <p:sp>
        <p:nvSpPr>
          <p:cNvPr id="25" name="Text 22"/>
          <p:cNvSpPr/>
          <p:nvPr/>
        </p:nvSpPr>
        <p:spPr>
          <a:xfrm>
            <a:off x="6473952" y="2194560"/>
            <a:ext cx="4882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Prototype in Figma Make</a:t>
            </a:r>
            <a:endParaRPr lang="en-US" sz="1720" dirty="0"/>
          </a:p>
        </p:txBody>
      </p:sp>
      <p:sp>
        <p:nvSpPr>
          <p:cNvPr id="26" name="Text 23"/>
          <p:cNvSpPr/>
          <p:nvPr/>
        </p:nvSpPr>
        <p:spPr>
          <a:xfrm>
            <a:off x="6473952" y="2542032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Generate the first-pass screen, interaction states, and flows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Iterate quickly with the product owner and business team</a:t>
            </a:r>
            <a:endParaRPr lang="en-US" sz="1020" dirty="0"/>
          </a:p>
        </p:txBody>
      </p:sp>
      <p:sp>
        <p:nvSpPr>
          <p:cNvPr id="27" name="Shape 24"/>
          <p:cNvSpPr/>
          <p:nvPr/>
        </p:nvSpPr>
        <p:spPr>
          <a:xfrm>
            <a:off x="658368" y="3017520"/>
            <a:ext cx="5266944" cy="1170432"/>
          </a:xfrm>
          <a:prstGeom prst="roundRect">
            <a:avLst>
              <a:gd name="adj" fmla="val 9375"/>
            </a:avLst>
          </a:prstGeom>
          <a:solidFill>
            <a:srgbClr val="0B1E36">
              <a:alpha val="93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658368" y="3017520"/>
            <a:ext cx="5266944" cy="73152"/>
          </a:xfrm>
          <a:prstGeom prst="rect">
            <a:avLst/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822960" y="3163824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822960" y="317296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809744" y="3163824"/>
            <a:ext cx="950976" cy="219456"/>
          </a:xfrm>
          <a:prstGeom prst="roundRect">
            <a:avLst>
              <a:gd name="adj" fmla="val 33333"/>
            </a:avLst>
          </a:prstGeom>
          <a:solidFill>
            <a:srgbClr val="8E7BFF"/>
          </a:solidFill>
          <a:ln w="12700">
            <a:solidFill>
              <a:srgbClr val="8E7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809744" y="3172968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+ Platform</a:t>
            </a:r>
            <a:endParaRPr lang="en-US" sz="820" dirty="0"/>
          </a:p>
        </p:txBody>
      </p:sp>
      <p:sp>
        <p:nvSpPr>
          <p:cNvPr id="33" name="Text 30"/>
          <p:cNvSpPr/>
          <p:nvPr/>
        </p:nvSpPr>
        <p:spPr>
          <a:xfrm>
            <a:off x="859536" y="3456432"/>
            <a:ext cx="4882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governed MFE repo</a:t>
            </a:r>
            <a:endParaRPr lang="en-US" sz="1720" dirty="0"/>
          </a:p>
        </p:txBody>
      </p:sp>
      <p:sp>
        <p:nvSpPr>
          <p:cNvPr id="34" name="Text 31"/>
          <p:cNvSpPr/>
          <p:nvPr/>
        </p:nvSpPr>
        <p:spPr>
          <a:xfrm>
            <a:off x="859536" y="3803904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Macro MCP server to stamp the Angular / React shell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Add routes, desktop hooks, shared patterns, and repo structure</a:t>
            </a:r>
            <a:endParaRPr lang="en-US" sz="1020" dirty="0"/>
          </a:p>
        </p:txBody>
      </p:sp>
      <p:sp>
        <p:nvSpPr>
          <p:cNvPr id="35" name="Shape 32"/>
          <p:cNvSpPr/>
          <p:nvPr/>
        </p:nvSpPr>
        <p:spPr>
          <a:xfrm>
            <a:off x="6272784" y="3017520"/>
            <a:ext cx="5266944" cy="1170432"/>
          </a:xfrm>
          <a:prstGeom prst="roundRect">
            <a:avLst>
              <a:gd name="adj" fmla="val 9375"/>
            </a:avLst>
          </a:prstGeom>
          <a:solidFill>
            <a:srgbClr val="0B1E36">
              <a:alpha val="93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72784" y="3017520"/>
            <a:ext cx="5266944" cy="73152"/>
          </a:xfrm>
          <a:prstGeom prst="rect">
            <a:avLst/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6437376" y="3163824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6437376" y="317296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424160" y="3163824"/>
            <a:ext cx="950976" cy="219456"/>
          </a:xfrm>
          <a:prstGeom prst="roundRect">
            <a:avLst>
              <a:gd name="adj" fmla="val 33333"/>
            </a:avLst>
          </a:prstGeom>
          <a:solidFill>
            <a:srgbClr val="55A6FF"/>
          </a:solidFill>
          <a:ln w="12700">
            <a:solidFill>
              <a:srgbClr val="55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10424160" y="3172968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Front-end Eng</a:t>
            </a:r>
            <a:endParaRPr lang="en-US" sz="820" dirty="0"/>
          </a:p>
        </p:txBody>
      </p:sp>
      <p:sp>
        <p:nvSpPr>
          <p:cNvPr id="41" name="Text 38"/>
          <p:cNvSpPr/>
          <p:nvPr/>
        </p:nvSpPr>
        <p:spPr>
          <a:xfrm>
            <a:off x="6473952" y="3456432"/>
            <a:ext cx="4882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Compose with Macro libraries</a:t>
            </a:r>
            <a:endParaRPr lang="en-US" sz="1720" dirty="0"/>
          </a:p>
        </p:txBody>
      </p:sp>
      <p:sp>
        <p:nvSpPr>
          <p:cNvPr id="42" name="Text 39"/>
          <p:cNvSpPr/>
          <p:nvPr/>
        </p:nvSpPr>
        <p:spPr>
          <a:xfrm>
            <a:off x="6473952" y="3803904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Apply auth, logger, ag-Grid wrapper, themes, and components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Replace generic AI output with Macro behavior and events</a:t>
            </a:r>
            <a:endParaRPr lang="en-US" sz="1020" dirty="0"/>
          </a:p>
        </p:txBody>
      </p:sp>
      <p:sp>
        <p:nvSpPr>
          <p:cNvPr id="43" name="Shape 40"/>
          <p:cNvSpPr/>
          <p:nvPr/>
        </p:nvSpPr>
        <p:spPr>
          <a:xfrm>
            <a:off x="658368" y="4279392"/>
            <a:ext cx="5266944" cy="1170432"/>
          </a:xfrm>
          <a:prstGeom prst="roundRect">
            <a:avLst>
              <a:gd name="adj" fmla="val 9375"/>
            </a:avLst>
          </a:prstGeom>
          <a:solidFill>
            <a:srgbClr val="0B1E36">
              <a:alpha val="93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658368" y="4279392"/>
            <a:ext cx="5266944" cy="73152"/>
          </a:xfrm>
          <a:prstGeom prst="rect">
            <a:avLst/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822960" y="4425696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822960" y="443484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992624" y="4425696"/>
            <a:ext cx="768096" cy="219456"/>
          </a:xfrm>
          <a:prstGeom prst="roundRect">
            <a:avLst>
              <a:gd name="adj" fmla="val 33333"/>
            </a:avLst>
          </a:prstGeom>
          <a:solidFill>
            <a:srgbClr val="FFC04D"/>
          </a:solidFill>
          <a:ln w="12700">
            <a:solidFill>
              <a:srgbClr val="FFC0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4992624" y="443484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</a:t>
            </a:r>
            <a:endParaRPr lang="en-US" sz="820" dirty="0"/>
          </a:p>
        </p:txBody>
      </p:sp>
      <p:sp>
        <p:nvSpPr>
          <p:cNvPr id="49" name="Text 46"/>
          <p:cNvSpPr/>
          <p:nvPr/>
        </p:nvSpPr>
        <p:spPr>
          <a:xfrm>
            <a:off x="859536" y="4718304"/>
            <a:ext cx="4882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build &amp; deployment</a:t>
            </a:r>
            <a:endParaRPr lang="en-US" sz="1720" dirty="0"/>
          </a:p>
        </p:txBody>
      </p:sp>
      <p:sp>
        <p:nvSpPr>
          <p:cNvPr id="50" name="Text 47"/>
          <p:cNvSpPr/>
          <p:nvPr/>
        </p:nvSpPr>
        <p:spPr>
          <a:xfrm>
            <a:off x="859536" y="5065776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Push to GitHub, open PR, run tests, and build the release image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Deploy to OpenShift and publish the version for validation</a:t>
            </a:r>
            <a:endParaRPr lang="en-US" sz="1020" dirty="0"/>
          </a:p>
        </p:txBody>
      </p:sp>
      <p:sp>
        <p:nvSpPr>
          <p:cNvPr id="51" name="Shape 48"/>
          <p:cNvSpPr/>
          <p:nvPr/>
        </p:nvSpPr>
        <p:spPr>
          <a:xfrm>
            <a:off x="6272784" y="4279392"/>
            <a:ext cx="5266944" cy="1170432"/>
          </a:xfrm>
          <a:prstGeom prst="roundRect">
            <a:avLst>
              <a:gd name="adj" fmla="val 9375"/>
            </a:avLst>
          </a:prstGeom>
          <a:solidFill>
            <a:srgbClr val="0B1E36">
              <a:alpha val="93000"/>
            </a:srgbClr>
          </a:solidFill>
          <a:ln w="12700">
            <a:solidFill>
              <a:srgbClr val="304867">
                <a:alpha val="72000"/>
              </a:srgbClr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49"/>
          <p:cNvSpPr/>
          <p:nvPr/>
        </p:nvSpPr>
        <p:spPr>
          <a:xfrm>
            <a:off x="6272784" y="4279392"/>
            <a:ext cx="5266944" cy="73152"/>
          </a:xfrm>
          <a:prstGeom prst="rect">
            <a:avLst/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0"/>
          <p:cNvSpPr/>
          <p:nvPr/>
        </p:nvSpPr>
        <p:spPr>
          <a:xfrm>
            <a:off x="6437376" y="4425696"/>
            <a:ext cx="384048" cy="237744"/>
          </a:xfrm>
          <a:prstGeom prst="roundRect">
            <a:avLst>
              <a:gd name="adj" fmla="val 30769"/>
            </a:avLst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6437376" y="443484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10232136" y="4425696"/>
            <a:ext cx="1143000" cy="219456"/>
          </a:xfrm>
          <a:prstGeom prst="roundRect">
            <a:avLst>
              <a:gd name="adj" fmla="val 33333"/>
            </a:avLst>
          </a:prstGeom>
          <a:solidFill>
            <a:srgbClr val="67E58A"/>
          </a:solidFill>
          <a:ln w="12700">
            <a:solidFill>
              <a:srgbClr val="67E58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10232136" y="44348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04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 + Entitlements</a:t>
            </a:r>
            <a:endParaRPr lang="en-US" sz="820" dirty="0"/>
          </a:p>
        </p:txBody>
      </p:sp>
      <p:sp>
        <p:nvSpPr>
          <p:cNvPr id="57" name="Text 54"/>
          <p:cNvSpPr/>
          <p:nvPr/>
        </p:nvSpPr>
        <p:spPr>
          <a:xfrm>
            <a:off x="6473952" y="4718304"/>
            <a:ext cx="4882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20" b="1" dirty="0">
                <a:solidFill>
                  <a:srgbClr val="F6FA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Onboard into Macro Desktop</a:t>
            </a:r>
            <a:endParaRPr lang="en-US" sz="1720" dirty="0"/>
          </a:p>
        </p:txBody>
      </p:sp>
      <p:sp>
        <p:nvSpPr>
          <p:cNvPr id="58" name="Text 55"/>
          <p:cNvSpPr/>
          <p:nvPr/>
        </p:nvSpPr>
        <p:spPr>
          <a:xfrm>
            <a:off x="6473952" y="5065776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Register in Storefront and Dock; enable color linking / FDC3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Configure entitlements and complete desktop UAT</a:t>
            </a:r>
            <a:endParaRPr lang="en-US" sz="1020" dirty="0"/>
          </a:p>
        </p:txBody>
      </p:sp>
      <p:sp>
        <p:nvSpPr>
          <p:cNvPr id="59" name="Shape 56"/>
          <p:cNvSpPr/>
          <p:nvPr/>
        </p:nvSpPr>
        <p:spPr>
          <a:xfrm>
            <a:off x="658368" y="5907024"/>
            <a:ext cx="10972800" cy="365760"/>
          </a:xfrm>
          <a:prstGeom prst="roundRect">
            <a:avLst>
              <a:gd name="adj" fmla="val 30000"/>
            </a:avLst>
          </a:prstGeom>
          <a:solidFill>
            <a:srgbClr val="0B1E36">
              <a:alpha val="90000"/>
            </a:srgbClr>
          </a:solidFill>
          <a:ln w="12700">
            <a:solidFill>
              <a:srgbClr val="304867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/>
          <p:nvPr/>
        </p:nvSpPr>
        <p:spPr>
          <a:xfrm>
            <a:off x="841248" y="59801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C1CE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stays in control: UX • security / auth • PR quality • deployment UAT. Net effect: a faster idea-to-desktop cycle with consistent UX and release patterns.</a:t>
            </a:r>
            <a:endParaRPr lang="en-US" sz="960" dirty="0"/>
          </a:p>
        </p:txBody>
      </p:sp>
      <p:sp>
        <p:nvSpPr>
          <p:cNvPr id="61" name="Text 58"/>
          <p:cNvSpPr/>
          <p:nvPr/>
        </p:nvSpPr>
        <p:spPr>
          <a:xfrm>
            <a:off x="11814048" y="6547104"/>
            <a:ext cx="128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E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50" dirty="0"/>
          </a:p>
        </p:txBody>
      </p:sp>
      <p:sp>
        <p:nvSpPr>
          <p:cNvPr id="6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95760" y="6537960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7F90A9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525</Words>
  <Application>Microsoft Office PowerPoint</Application>
  <PresentationFormat>Widescreen</PresentationFormat>
  <Paragraphs>116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Macro Front Office UI Transformation</dc:title>
  <dc:subject>Macro Front Office UI Transformation</dc:subject>
  <dc:creator>OpenAI</dc:creator>
  <cp:lastModifiedBy>Mrudang Majmudar</cp:lastModifiedBy>
  <cp:revision>2</cp:revision>
  <dcterms:created xsi:type="dcterms:W3CDTF">2026-03-11T02:41:26Z</dcterms:created>
  <dcterms:modified xsi:type="dcterms:W3CDTF">2026-03-11T10:47:03Z</dcterms:modified>
</cp:coreProperties>
</file>