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acro_ultra_modern_work/assets/bg1_dark.png">    </p:cNvPr>
          <p:cNvPicPr>
            <a:picLocks noChangeAspect="1"/>
          </p:cNvPicPr>
          <p:nvPr/>
        </p:nvPicPr>
        <p:blipFill>
          <a:blip r:embed="rId1"/>
          <a:srcRect l="418" r="418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339" cy="77724"/>
          </a:xfrm>
          <a:prstGeom prst="rect">
            <a:avLst/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38339" y="0"/>
            <a:ext cx="2438339" cy="77724"/>
          </a:xfrm>
          <a:prstGeom prst="rect">
            <a:avLst/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76678" y="0"/>
            <a:ext cx="2438339" cy="77724"/>
          </a:xfrm>
          <a:prstGeom prst="rect">
            <a:avLst/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017" y="0"/>
            <a:ext cx="2438339" cy="77724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53356" y="0"/>
            <a:ext cx="2438339" cy="77724"/>
          </a:xfrm>
          <a:prstGeom prst="rect">
            <a:avLst/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77724"/>
            <a:ext cx="6492240" cy="6780276"/>
          </a:xfrm>
          <a:prstGeom prst="rect">
            <a:avLst/>
          </a:prstGeom>
          <a:solidFill>
            <a:srgbClr val="050D19">
              <a:alpha val="94000"/>
            </a:srgbClr>
          </a:solidFill>
          <a:ln w="12700">
            <a:solidFill>
              <a:srgbClr val="050D19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FRONT OFFICE TRANSFORMATION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877824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for Macro Front Office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Transformation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76656" y="19933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legacy .NET front-office screens into governed Angular / React micro frontends running inside Macro Desktop.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676656" y="2651760"/>
            <a:ext cx="5074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Make accelerates the first UI draft. Macro MCP server and Macro MFE libraries inject guardrails, shared components, themes, auth, logging, and desktop patterns. GitHub + OpenShift complete the path to a desktop-ready release.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58368" y="3986784"/>
            <a:ext cx="1664208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8096" y="4142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07822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Prompt-first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87552" y="429768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screen ideation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2450592" y="3986784"/>
            <a:ext cx="1664208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4142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79776" y="407822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build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779776" y="429768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standards embedded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4242816" y="3986784"/>
            <a:ext cx="1664208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52544" y="41422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4078224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Desktop-ready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0" y="429768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inside OpenFin Workspace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7479792" y="868680"/>
            <a:ext cx="4133088" cy="4645152"/>
          </a:xfrm>
          <a:prstGeom prst="roundRect">
            <a:avLst>
              <a:gd name="adj" fmla="val 2655"/>
            </a:avLst>
          </a:prstGeom>
          <a:solidFill>
            <a:srgbClr val="050D19">
              <a:alpha val="84000"/>
            </a:srgbClr>
          </a:solidFill>
          <a:ln w="12700">
            <a:solidFill>
              <a:srgbClr val="2E425E">
                <a:alpha val="7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65392" y="1316736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65392" y="1325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6528816" y="2770632"/>
            <a:ext cx="841248" cy="256032"/>
          </a:xfrm>
          <a:prstGeom prst="roundRect">
            <a:avLst>
              <a:gd name="adj" fmla="val 42857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28816" y="27797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6729984" y="4224528"/>
            <a:ext cx="585216" cy="256032"/>
          </a:xfrm>
          <a:prstGeom prst="roundRect">
            <a:avLst>
              <a:gd name="adj" fmla="val 42857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29984" y="423367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9518904" y="2331720"/>
            <a:ext cx="0" cy="512064"/>
          </a:xfrm>
          <a:prstGeom prst="line">
            <a:avLst/>
          </a:prstGeom>
          <a:noFill/>
          <a:ln w="12700">
            <a:solidFill>
              <a:srgbClr val="2BE5D8">
                <a:alpha val="82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18904" y="3794760"/>
            <a:ext cx="0" cy="512064"/>
          </a:xfrm>
          <a:prstGeom prst="line">
            <a:avLst/>
          </a:prstGeom>
          <a:noFill/>
          <a:ln w="12700">
            <a:solidFill>
              <a:srgbClr val="67E58A">
                <a:alpha val="82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827264" y="1261872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9182B">
              <a:alpha val="94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3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827264" y="1261872"/>
            <a:ext cx="3383280" cy="73152"/>
          </a:xfrm>
          <a:prstGeom prst="rect">
            <a:avLst/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28432" y="17007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.NET UI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8028432" y="202996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front-office screens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7827264" y="2715768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9182B">
              <a:alpha val="94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322580000" dist="241935000" dir="162000000000">
              <a:srgbClr val="000000">
                <a:alpha val="320000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827264" y="2715768"/>
            <a:ext cx="3383280" cy="73152"/>
          </a:xfrm>
          <a:prstGeom prst="rect">
            <a:avLst/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28432" y="315468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MFE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8028432" y="3483864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Make + Macro MCP + libraries</a:t>
            </a:r>
            <a:endParaRPr lang="en-US" sz="1040" dirty="0"/>
          </a:p>
        </p:txBody>
      </p:sp>
      <p:sp>
        <p:nvSpPr>
          <p:cNvPr id="42" name="Shape 39"/>
          <p:cNvSpPr/>
          <p:nvPr/>
        </p:nvSpPr>
        <p:spPr>
          <a:xfrm>
            <a:off x="7827264" y="4169664"/>
            <a:ext cx="3383280" cy="1078992"/>
          </a:xfrm>
          <a:prstGeom prst="roundRect">
            <a:avLst>
              <a:gd name="adj" fmla="val 10169"/>
            </a:avLst>
          </a:prstGeom>
          <a:solidFill>
            <a:srgbClr val="09182B">
              <a:alpha val="94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4096766000000" dist="3072574500000" dir="9720000000000000">
              <a:srgbClr val="000000">
                <a:alpha val="32000000000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827264" y="4169664"/>
            <a:ext cx="3383280" cy="73152"/>
          </a:xfrm>
          <a:prstGeom prst="rect">
            <a:avLst/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28432" y="460857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Desktop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8028432" y="493776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OpenFin Workspace runtime</a:t>
            </a:r>
            <a:endParaRPr lang="en-US" sz="1060" dirty="0"/>
          </a:p>
        </p:txBody>
      </p:sp>
      <p:sp>
        <p:nvSpPr>
          <p:cNvPr id="46" name="Shape 43"/>
          <p:cNvSpPr/>
          <p:nvPr/>
        </p:nvSpPr>
        <p:spPr>
          <a:xfrm>
            <a:off x="658368" y="6071616"/>
            <a:ext cx="768096" cy="256032"/>
          </a:xfrm>
          <a:prstGeom prst="roundRect">
            <a:avLst>
              <a:gd name="adj" fmla="val 42857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608076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Make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1536192" y="6071616"/>
            <a:ext cx="1133856" cy="256032"/>
          </a:xfrm>
          <a:prstGeom prst="roundRect">
            <a:avLst>
              <a:gd name="adj" fmla="val 42857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536192" y="608076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MCP Server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2788920" y="6071616"/>
            <a:ext cx="1188720" cy="256032"/>
          </a:xfrm>
          <a:prstGeom prst="roundRect">
            <a:avLst>
              <a:gd name="adj" fmla="val 42857"/>
            </a:avLst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88920" y="6080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MFE Libraries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4105656" y="6071616"/>
            <a:ext cx="603504" cy="256032"/>
          </a:xfrm>
          <a:prstGeom prst="roundRect">
            <a:avLst>
              <a:gd name="adj" fmla="val 42857"/>
            </a:avLst>
          </a:prstGeom>
          <a:solidFill>
            <a:srgbClr val="6E7B8D"/>
          </a:solidFill>
          <a:ln w="12700">
            <a:solidFill>
              <a:srgbClr val="6E7B8D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105656" y="60807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4828032" y="6071616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28032" y="608076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5596128" y="6071616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596128" y="6080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OpenFin Workspace</a:t>
            </a:r>
            <a:endParaRPr lang="en-US" sz="780" dirty="0"/>
          </a:p>
        </p:txBody>
      </p:sp>
      <p:sp>
        <p:nvSpPr>
          <p:cNvPr id="58" name="Text 55"/>
          <p:cNvSpPr/>
          <p:nvPr/>
        </p:nvSpPr>
        <p:spPr>
          <a:xfrm>
            <a:off x="11814048" y="654710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acro_ultra_modern_work/assets/bg2_dark.png">    </p:cNvPr>
          <p:cNvPicPr>
            <a:picLocks noChangeAspect="1"/>
          </p:cNvPicPr>
          <p:nvPr/>
        </p:nvPicPr>
        <p:blipFill>
          <a:blip r:embed="rId1"/>
          <a:srcRect l="48" r="48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339" cy="77724"/>
          </a:xfrm>
          <a:prstGeom prst="rect">
            <a:avLst/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38339" y="0"/>
            <a:ext cx="2438339" cy="77724"/>
          </a:xfrm>
          <a:prstGeom prst="rect">
            <a:avLst/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76678" y="0"/>
            <a:ext cx="2438339" cy="77724"/>
          </a:xfrm>
          <a:prstGeom prst="rect">
            <a:avLst/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017" y="0"/>
            <a:ext cx="2438339" cy="77724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53356" y="0"/>
            <a:ext cx="2438339" cy="77724"/>
          </a:xfrm>
          <a:prstGeom prst="rect">
            <a:avLst/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UI FACTORY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8368" y="6400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agentic UI factory works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76656" y="102412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accelerates the repetitive UI work; Macro standards, libraries, and platform hooks keep the output production-ready.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2121408" y="2615184"/>
            <a:ext cx="118872" cy="0"/>
          </a:xfrm>
          <a:prstGeom prst="line">
            <a:avLst/>
          </a:prstGeom>
          <a:noFill/>
          <a:ln w="12700">
            <a:solidFill>
              <a:srgbClr val="2BE5D8">
                <a:alpha val="8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39896" y="2615184"/>
            <a:ext cx="118872" cy="0"/>
          </a:xfrm>
          <a:prstGeom prst="line">
            <a:avLst/>
          </a:prstGeom>
          <a:noFill/>
          <a:ln w="12700">
            <a:solidFill>
              <a:srgbClr val="8E7BFF">
                <a:alpha val="8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58384" y="2615184"/>
            <a:ext cx="118872" cy="0"/>
          </a:xfrm>
          <a:prstGeom prst="line">
            <a:avLst/>
          </a:prstGeom>
          <a:noFill/>
          <a:ln w="12700">
            <a:solidFill>
              <a:srgbClr val="55A6FF">
                <a:alpha val="8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76872" y="2615184"/>
            <a:ext cx="118872" cy="0"/>
          </a:xfrm>
          <a:prstGeom prst="line">
            <a:avLst/>
          </a:prstGeom>
          <a:noFill/>
          <a:ln w="12700">
            <a:solidFill>
              <a:srgbClr val="FFC04D">
                <a:alpha val="8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04504" y="2615184"/>
            <a:ext cx="1417320" cy="0"/>
          </a:xfrm>
          <a:prstGeom prst="line">
            <a:avLst/>
          </a:prstGeom>
          <a:noFill/>
          <a:ln w="12700">
            <a:solidFill>
              <a:srgbClr val="67E58A">
                <a:alpha val="8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1508760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151790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276856" y="1508760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76856" y="151790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DESIGN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895344" y="1508760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95344" y="151790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513832" y="1508760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13832" y="151790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7132320" y="1508760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51790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9235440" y="1261872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35440" y="127101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58368" y="1901952"/>
            <a:ext cx="1426464" cy="1426464"/>
          </a:xfrm>
          <a:prstGeom prst="roundRect">
            <a:avLst>
              <a:gd name="adj" fmla="val 7692"/>
            </a:avLst>
          </a:prstGeom>
          <a:solidFill>
            <a:srgbClr val="09182B">
              <a:alpha val="92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52028928200000000" dist="39021696150000000" dir="583200000000000000000">
              <a:srgbClr val="000000">
                <a:alpha val="3200000000000000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8368" y="1901952"/>
            <a:ext cx="1426464" cy="73152"/>
          </a:xfrm>
          <a:prstGeom prst="rect">
            <a:avLst/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2960" y="204825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59536" y="23408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859536" y="2688336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screen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+ criteria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2276856" y="1901952"/>
            <a:ext cx="1426464" cy="1426464"/>
          </a:xfrm>
          <a:prstGeom prst="roundRect">
            <a:avLst>
              <a:gd name="adj" fmla="val 7692"/>
            </a:avLst>
          </a:prstGeom>
          <a:solidFill>
            <a:srgbClr val="09182B">
              <a:alpha val="92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660767388140000000000" dist="495575541105000000000" dir="3.4992e+25">
              <a:srgbClr val="000000">
                <a:alpha val="3.2e+24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276856" y="1901952"/>
            <a:ext cx="1426464" cy="73152"/>
          </a:xfrm>
          <a:prstGeom prst="rect">
            <a:avLst/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441448" y="204825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41448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478024" y="23408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Make</a:t>
            </a:r>
            <a:endParaRPr lang="en-US" sz="1320" dirty="0"/>
          </a:p>
        </p:txBody>
      </p:sp>
      <p:sp>
        <p:nvSpPr>
          <p:cNvPr id="39" name="Text 36"/>
          <p:cNvSpPr/>
          <p:nvPr/>
        </p:nvSpPr>
        <p:spPr>
          <a:xfrm>
            <a:off x="2478024" y="2688336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First-pass UI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 + flows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3895344" y="1901952"/>
            <a:ext cx="1426464" cy="1426464"/>
          </a:xfrm>
          <a:prstGeom prst="roundRect">
            <a:avLst>
              <a:gd name="adj" fmla="val 7692"/>
            </a:avLst>
          </a:prstGeom>
          <a:solidFill>
            <a:srgbClr val="09182B">
              <a:alpha val="92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8.391745829378e+24" dist="6.2938093720335e+24" dir="2.09952e+30">
              <a:srgbClr val="000000">
                <a:alpha val="3.2e+29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895344" y="1901952"/>
            <a:ext cx="1426464" cy="73152"/>
          </a:xfrm>
          <a:prstGeom prst="rect">
            <a:avLst/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59936" y="204825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59936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096512" y="23408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MCP</a:t>
            </a:r>
            <a:endParaRPr lang="en-US" sz="1320" dirty="0"/>
          </a:p>
        </p:txBody>
      </p:sp>
      <p:sp>
        <p:nvSpPr>
          <p:cNvPr id="45" name="Text 42"/>
          <p:cNvSpPr/>
          <p:nvPr/>
        </p:nvSpPr>
        <p:spPr>
          <a:xfrm>
            <a:off x="4096512" y="2688336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+ desktop hooks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5513832" y="1901952"/>
            <a:ext cx="1426464" cy="1426464"/>
          </a:xfrm>
          <a:prstGeom prst="roundRect">
            <a:avLst>
              <a:gd name="adj" fmla="val 7692"/>
            </a:avLst>
          </a:prstGeom>
          <a:solidFill>
            <a:srgbClr val="09182B">
              <a:alpha val="92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1.0657517203310059e+29" dist="7.993137902482545e+28" dir="1.259712e+35">
              <a:srgbClr val="000000">
                <a:alpha val="3.2e+34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513832" y="1901952"/>
            <a:ext cx="1426464" cy="73152"/>
          </a:xfrm>
          <a:prstGeom prst="rect">
            <a:avLst/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678424" y="204825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78424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715000" y="23408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MFE libraries</a:t>
            </a:r>
            <a:endParaRPr lang="en-US" sz="1320" dirty="0"/>
          </a:p>
        </p:txBody>
      </p:sp>
      <p:sp>
        <p:nvSpPr>
          <p:cNvPr id="51" name="Text 48"/>
          <p:cNvSpPr/>
          <p:nvPr/>
        </p:nvSpPr>
        <p:spPr>
          <a:xfrm>
            <a:off x="5715000" y="2688336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logger, grid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+ components</a:t>
            </a:r>
            <a:endParaRPr lang="en-US" sz="920" dirty="0"/>
          </a:p>
        </p:txBody>
      </p:sp>
      <p:sp>
        <p:nvSpPr>
          <p:cNvPr id="52" name="Shape 49"/>
          <p:cNvSpPr/>
          <p:nvPr/>
        </p:nvSpPr>
        <p:spPr>
          <a:xfrm>
            <a:off x="7132320" y="1901952"/>
            <a:ext cx="1426464" cy="1426464"/>
          </a:xfrm>
          <a:prstGeom prst="roundRect">
            <a:avLst>
              <a:gd name="adj" fmla="val 7692"/>
            </a:avLst>
          </a:prstGeom>
          <a:solidFill>
            <a:srgbClr val="09182B">
              <a:alpha val="92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1.3535046848203775e+33" dist="1.0151285136152831e+33" dir="7.558272e+39">
              <a:srgbClr val="000000">
                <a:alpha val="3.2e+39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7132320" y="1901952"/>
            <a:ext cx="1426464" cy="73152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296912" y="204825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296912" y="2057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333488" y="2340864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+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OpenShift</a:t>
            </a:r>
            <a:endParaRPr lang="en-US" sz="1260" dirty="0"/>
          </a:p>
        </p:txBody>
      </p:sp>
      <p:sp>
        <p:nvSpPr>
          <p:cNvPr id="57" name="Text 54"/>
          <p:cNvSpPr/>
          <p:nvPr/>
        </p:nvSpPr>
        <p:spPr>
          <a:xfrm>
            <a:off x="7333488" y="2688336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Repo, PR, tests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deploy</a:t>
            </a:r>
            <a:endParaRPr lang="en-US" sz="920" dirty="0"/>
          </a:p>
        </p:txBody>
      </p:sp>
      <p:sp>
        <p:nvSpPr>
          <p:cNvPr id="58" name="Shape 55"/>
          <p:cNvSpPr/>
          <p:nvPr/>
        </p:nvSpPr>
        <p:spPr>
          <a:xfrm>
            <a:off x="9189720" y="1664208"/>
            <a:ext cx="2331720" cy="2121408"/>
          </a:xfrm>
          <a:prstGeom prst="roundRect">
            <a:avLst>
              <a:gd name="adj" fmla="val 5172"/>
            </a:avLst>
          </a:prstGeom>
          <a:solidFill>
            <a:srgbClr val="0B1E36">
              <a:alpha val="96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1.7189509497218795e+37" dist="1.2892132122914095e+37" dir="4.5349632000000006e+44">
              <a:srgbClr val="000000">
                <a:alpha val="3.2e+44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9189720" y="1664208"/>
            <a:ext cx="2331720" cy="73152"/>
          </a:xfrm>
          <a:prstGeom prst="rect">
            <a:avLst/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390888" y="210312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Desktop</a:t>
            </a:r>
            <a:endParaRPr lang="en-US" sz="1920" dirty="0"/>
          </a:p>
        </p:txBody>
      </p:sp>
      <p:sp>
        <p:nvSpPr>
          <p:cNvPr id="61" name="Text 58"/>
          <p:cNvSpPr/>
          <p:nvPr/>
        </p:nvSpPr>
        <p:spPr>
          <a:xfrm>
            <a:off x="9390888" y="24323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Angular / React MFEs in OpenFin Workspace</a:t>
            </a:r>
            <a:endParaRPr lang="en-US" sz="980" dirty="0"/>
          </a:p>
        </p:txBody>
      </p:sp>
      <p:sp>
        <p:nvSpPr>
          <p:cNvPr id="62" name="Shape 59"/>
          <p:cNvSpPr/>
          <p:nvPr/>
        </p:nvSpPr>
        <p:spPr>
          <a:xfrm>
            <a:off x="9436608" y="2798064"/>
            <a:ext cx="1847088" cy="768096"/>
          </a:xfrm>
          <a:prstGeom prst="roundRect">
            <a:avLst>
              <a:gd name="adj" fmla="val 11905"/>
            </a:avLst>
          </a:prstGeom>
          <a:solidFill>
            <a:srgbClr val="102744">
              <a:alpha val="96000"/>
            </a:srgbClr>
          </a:solidFill>
          <a:ln w="12700">
            <a:solidFill>
              <a:srgbClr val="304867">
                <a:alpha val="74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528048" y="2907792"/>
            <a:ext cx="621792" cy="256032"/>
          </a:xfrm>
          <a:prstGeom prst="roundRect">
            <a:avLst>
              <a:gd name="adj" fmla="val 42857"/>
            </a:avLst>
          </a:prstGeom>
          <a:solidFill>
            <a:srgbClr val="173758"/>
          </a:solidFill>
          <a:ln w="12700">
            <a:solidFill>
              <a:srgbClr val="173758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528048" y="291693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Storefront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10195560" y="2907792"/>
            <a:ext cx="384048" cy="256032"/>
          </a:xfrm>
          <a:prstGeom prst="roundRect">
            <a:avLst>
              <a:gd name="adj" fmla="val 42857"/>
            </a:avLst>
          </a:prstGeom>
          <a:solidFill>
            <a:srgbClr val="173758"/>
          </a:solidFill>
          <a:ln w="12700">
            <a:solidFill>
              <a:srgbClr val="173758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195560" y="29169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10625328" y="2907792"/>
            <a:ext cx="566928" cy="256032"/>
          </a:xfrm>
          <a:prstGeom prst="roundRect">
            <a:avLst>
              <a:gd name="adj" fmla="val 42857"/>
            </a:avLst>
          </a:prstGeom>
          <a:solidFill>
            <a:srgbClr val="173758"/>
          </a:solidFill>
          <a:ln w="12700">
            <a:solidFill>
              <a:srgbClr val="173758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625328" y="29169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 link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674352" y="3163824"/>
            <a:ext cx="402336" cy="256032"/>
          </a:xfrm>
          <a:prstGeom prst="roundRect">
            <a:avLst>
              <a:gd name="adj" fmla="val 42857"/>
            </a:avLst>
          </a:prstGeom>
          <a:solidFill>
            <a:srgbClr val="173758"/>
          </a:solidFill>
          <a:ln w="12700">
            <a:solidFill>
              <a:srgbClr val="173758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9674352" y="317296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FDC3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10131552" y="3163824"/>
            <a:ext cx="768096" cy="256032"/>
          </a:xfrm>
          <a:prstGeom prst="roundRect">
            <a:avLst>
              <a:gd name="adj" fmla="val 42857"/>
            </a:avLst>
          </a:prstGeom>
          <a:solidFill>
            <a:srgbClr val="173758"/>
          </a:solidFill>
          <a:ln w="12700">
            <a:solidFill>
              <a:srgbClr val="173758">
                <a:alpha val="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0131552" y="317296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Entitlements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658368" y="4224528"/>
            <a:ext cx="10863072" cy="365760"/>
          </a:xfrm>
          <a:prstGeom prst="roundRect">
            <a:avLst>
              <a:gd name="adj" fmla="val 30000"/>
            </a:avLst>
          </a:prstGeom>
          <a:solidFill>
            <a:srgbClr val="0B1E36">
              <a:alpha val="90000"/>
            </a:srgbClr>
          </a:solidFill>
          <a:ln w="12700">
            <a:solidFill>
              <a:srgbClr val="304867">
                <a:alpha val="65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41248" y="4297680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gates stay in control: UX sign-off • security / auth • PR quality • desktop UAT</a:t>
            </a:r>
            <a:endParaRPr lang="en-US" sz="960" dirty="0"/>
          </a:p>
        </p:txBody>
      </p:sp>
      <p:sp>
        <p:nvSpPr>
          <p:cNvPr id="75" name="Shape 72"/>
          <p:cNvSpPr/>
          <p:nvPr/>
        </p:nvSpPr>
        <p:spPr>
          <a:xfrm>
            <a:off x="658368" y="502920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68096" y="51846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87552" y="512064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greenfield coding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987552" y="534009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boilerplate becomes scaffolded + reused</a:t>
            </a:r>
            <a:endParaRPr lang="en-US" sz="870" dirty="0"/>
          </a:p>
        </p:txBody>
      </p:sp>
      <p:sp>
        <p:nvSpPr>
          <p:cNvPr id="79" name="Shape 76"/>
          <p:cNvSpPr/>
          <p:nvPr/>
        </p:nvSpPr>
        <p:spPr>
          <a:xfrm>
            <a:off x="3520440" y="502920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630168" y="51846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849624" y="512064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UX</a:t>
            </a:r>
            <a:endParaRPr lang="en-US" sz="1050" dirty="0"/>
          </a:p>
        </p:txBody>
      </p:sp>
      <p:sp>
        <p:nvSpPr>
          <p:cNvPr id="82" name="Text 79"/>
          <p:cNvSpPr/>
          <p:nvPr/>
        </p:nvSpPr>
        <p:spPr>
          <a:xfrm>
            <a:off x="3849624" y="534009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tokens and components keep parity</a:t>
            </a:r>
            <a:endParaRPr lang="en-US" sz="870" dirty="0"/>
          </a:p>
        </p:txBody>
      </p:sp>
      <p:sp>
        <p:nvSpPr>
          <p:cNvPr id="83" name="Shape 80"/>
          <p:cNvSpPr/>
          <p:nvPr/>
        </p:nvSpPr>
        <p:spPr>
          <a:xfrm>
            <a:off x="6382512" y="502920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492240" y="51846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711696" y="512064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handoffs</a:t>
            </a:r>
            <a:endParaRPr lang="en-US" sz="1050" dirty="0"/>
          </a:p>
        </p:txBody>
      </p:sp>
      <p:sp>
        <p:nvSpPr>
          <p:cNvPr id="86" name="Text 83"/>
          <p:cNvSpPr/>
          <p:nvPr/>
        </p:nvSpPr>
        <p:spPr>
          <a:xfrm>
            <a:off x="6711696" y="5340096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design-to-code moves in one flow</a:t>
            </a:r>
            <a:endParaRPr lang="en-US" sz="870" dirty="0"/>
          </a:p>
        </p:txBody>
      </p:sp>
      <p:sp>
        <p:nvSpPr>
          <p:cNvPr id="87" name="Shape 84"/>
          <p:cNvSpPr/>
          <p:nvPr/>
        </p:nvSpPr>
        <p:spPr>
          <a:xfrm>
            <a:off x="9244584" y="5029200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0B1E36">
              <a:alpha val="94000"/>
            </a:srgbClr>
          </a:solidFill>
          <a:ln w="12700">
            <a:solidFill>
              <a:srgbClr val="304867">
                <a:alpha val="6600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354312" y="51846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573768" y="512064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Desktop-ready delivery</a:t>
            </a:r>
            <a:endParaRPr lang="en-US" sz="1050" dirty="0"/>
          </a:p>
        </p:txBody>
      </p:sp>
      <p:sp>
        <p:nvSpPr>
          <p:cNvPr id="90" name="Text 87"/>
          <p:cNvSpPr/>
          <p:nvPr/>
        </p:nvSpPr>
        <p:spPr>
          <a:xfrm>
            <a:off x="9573768" y="53400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and runtime hooks are built in</a:t>
            </a:r>
            <a:endParaRPr lang="en-US" sz="870" dirty="0"/>
          </a:p>
        </p:txBody>
      </p:sp>
      <p:sp>
        <p:nvSpPr>
          <p:cNvPr id="91" name="Text 88"/>
          <p:cNvSpPr/>
          <p:nvPr/>
        </p:nvSpPr>
        <p:spPr>
          <a:xfrm>
            <a:off x="11814048" y="654710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acro_ultra_modern_work/assets/bg3_dark.png">    </p:cNvPr>
          <p:cNvPicPr>
            <a:picLocks noChangeAspect="1"/>
          </p:cNvPicPr>
          <p:nvPr/>
        </p:nvPicPr>
        <p:blipFill>
          <a:blip r:embed="rId1"/>
          <a:srcRect l="0" r="0" t="29687" b="296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339" cy="77724"/>
          </a:xfrm>
          <a:prstGeom prst="rect">
            <a:avLst/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438339" y="0"/>
            <a:ext cx="2438339" cy="77724"/>
          </a:xfrm>
          <a:prstGeom prst="rect">
            <a:avLst/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76678" y="0"/>
            <a:ext cx="2438339" cy="77724"/>
          </a:xfrm>
          <a:prstGeom prst="rect">
            <a:avLst/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017" y="0"/>
            <a:ext cx="2438339" cy="77724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53356" y="0"/>
            <a:ext cx="2438339" cy="77724"/>
          </a:xfrm>
          <a:prstGeom prst="rect">
            <a:avLst/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10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A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DELIVERY MODEL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8368" y="56692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task outline for the new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76656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stays controlled by Macro teams, but more of the delivery path becomes standardized, reusable, and agent-assisted.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658368" y="1755648"/>
            <a:ext cx="5266944" cy="1170432"/>
          </a:xfrm>
          <a:prstGeom prst="roundRect">
            <a:avLst>
              <a:gd name="adj" fmla="val 9375"/>
            </a:avLst>
          </a:prstGeom>
          <a:solidFill>
            <a:srgbClr val="0B1E36">
              <a:alpha val="93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2.183067706146787e+41" dist="1.6373007796100902e+41" dir="2.72097792e+49">
              <a:srgbClr val="000000">
                <a:alpha val="3.2e+4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55648"/>
            <a:ext cx="5266944" cy="73152"/>
          </a:xfrm>
          <a:prstGeom prst="rect">
            <a:avLst/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1901952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911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82896" y="1901952"/>
            <a:ext cx="877824" cy="219456"/>
          </a:xfrm>
          <a:prstGeom prst="roundRect">
            <a:avLst>
              <a:gd name="adj" fmla="val 33333"/>
            </a:avLst>
          </a:prstGeom>
          <a:solidFill>
            <a:srgbClr val="FF6E76"/>
          </a:solidFill>
          <a:ln w="12700">
            <a:solidFill>
              <a:srgbClr val="FF6E7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82896" y="191109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+ UX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859536" y="219456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&amp; prompt pack</a:t>
            </a:r>
            <a:endParaRPr lang="en-US" sz="1720" dirty="0"/>
          </a:p>
        </p:txBody>
      </p:sp>
      <p:sp>
        <p:nvSpPr>
          <p:cNvPr id="18" name="Text 15"/>
          <p:cNvSpPr/>
          <p:nvPr/>
        </p:nvSpPr>
        <p:spPr>
          <a:xfrm>
            <a:off x="859536" y="2542032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 the legacy screen, workflow, and success criteria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sample payloads, desktop context, and UX rules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272784" y="1755648"/>
            <a:ext cx="5266944" cy="1170432"/>
          </a:xfrm>
          <a:prstGeom prst="roundRect">
            <a:avLst>
              <a:gd name="adj" fmla="val 9375"/>
            </a:avLst>
          </a:prstGeom>
          <a:solidFill>
            <a:srgbClr val="0B1E36">
              <a:alpha val="93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2.7724959868064195e+45" dist="2.0793719901048145e+45" dir="1.6325867520000003e+54">
              <a:srgbClr val="000000">
                <a:alpha val="3.2e+54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72784" y="1755648"/>
            <a:ext cx="5266944" cy="73152"/>
          </a:xfrm>
          <a:prstGeom prst="rect">
            <a:avLst/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37376" y="1901952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7376" y="1911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607040" y="1901952"/>
            <a:ext cx="768096" cy="219456"/>
          </a:xfrm>
          <a:prstGeom prst="roundRect">
            <a:avLst>
              <a:gd name="adj" fmla="val 33333"/>
            </a:avLst>
          </a:prstGeom>
          <a:solidFill>
            <a:srgbClr val="2BE5D8"/>
          </a:solidFill>
          <a:ln w="12700">
            <a:solidFill>
              <a:srgbClr val="2BE5D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0" y="191109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UX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6473952" y="219456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in Figma Make</a:t>
            </a:r>
            <a:endParaRPr lang="en-US" sz="1720" dirty="0"/>
          </a:p>
        </p:txBody>
      </p:sp>
      <p:sp>
        <p:nvSpPr>
          <p:cNvPr id="26" name="Text 23"/>
          <p:cNvSpPr/>
          <p:nvPr/>
        </p:nvSpPr>
        <p:spPr>
          <a:xfrm>
            <a:off x="6473952" y="2542032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the first-pass screen, interaction states, and flows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Iterate quickly with the product owner and business team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658368" y="3017520"/>
            <a:ext cx="5266944" cy="1170432"/>
          </a:xfrm>
          <a:prstGeom prst="roundRect">
            <a:avLst>
              <a:gd name="adj" fmla="val 9375"/>
            </a:avLst>
          </a:prstGeom>
          <a:solidFill>
            <a:srgbClr val="0B1E36">
              <a:alpha val="93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3.5210699032441527e+49" dist="2.640802427433114e+49" dir="9.795520512000002e+58">
              <a:srgbClr val="000000">
                <a:alpha val="3.2e+59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8368" y="3017520"/>
            <a:ext cx="5266944" cy="73152"/>
          </a:xfrm>
          <a:prstGeom prst="rect">
            <a:avLst/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" y="3163824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31729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09744" y="3163824"/>
            <a:ext cx="950976" cy="219456"/>
          </a:xfrm>
          <a:prstGeom prst="roundRect">
            <a:avLst>
              <a:gd name="adj" fmla="val 33333"/>
            </a:avLst>
          </a:prstGeom>
          <a:solidFill>
            <a:srgbClr val="8E7BFF"/>
          </a:solidFill>
          <a:ln w="12700">
            <a:solidFill>
              <a:srgbClr val="8E7B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9744" y="317296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Platform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859536" y="3456432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governed MFE repo</a:t>
            </a:r>
            <a:endParaRPr lang="en-US" sz="1720" dirty="0"/>
          </a:p>
        </p:txBody>
      </p:sp>
      <p:sp>
        <p:nvSpPr>
          <p:cNvPr id="34" name="Text 31"/>
          <p:cNvSpPr/>
          <p:nvPr/>
        </p:nvSpPr>
        <p:spPr>
          <a:xfrm>
            <a:off x="859536" y="380390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Macro MCP server to stamp the Angular / React shell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routes, desktop hooks, shared patterns, and repo structure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6272784" y="3017520"/>
            <a:ext cx="5266944" cy="1170432"/>
          </a:xfrm>
          <a:prstGeom prst="roundRect">
            <a:avLst>
              <a:gd name="adj" fmla="val 9375"/>
            </a:avLst>
          </a:prstGeom>
          <a:solidFill>
            <a:srgbClr val="0B1E36">
              <a:alpha val="93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4.471758777120074e+53" dist="3.353819082840055e+53" dir="5.877312307200001e+63">
              <a:srgbClr val="000000">
                <a:alpha val="3.1999999999999996e+64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72784" y="3017520"/>
            <a:ext cx="5266944" cy="73152"/>
          </a:xfrm>
          <a:prstGeom prst="rect">
            <a:avLst/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37376" y="3163824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37376" y="31729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424160" y="3163824"/>
            <a:ext cx="950976" cy="219456"/>
          </a:xfrm>
          <a:prstGeom prst="roundRect">
            <a:avLst>
              <a:gd name="adj" fmla="val 33333"/>
            </a:avLst>
          </a:prstGeom>
          <a:solidFill>
            <a:srgbClr val="55A6FF"/>
          </a:solidFill>
          <a:ln w="12700">
            <a:solidFill>
              <a:srgbClr val="55A6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24160" y="317296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Front-end Eng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6473952" y="3456432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with Macro libraries</a:t>
            </a:r>
            <a:endParaRPr lang="en-US" sz="1720" dirty="0"/>
          </a:p>
        </p:txBody>
      </p:sp>
      <p:sp>
        <p:nvSpPr>
          <p:cNvPr id="42" name="Text 39"/>
          <p:cNvSpPr/>
          <p:nvPr/>
        </p:nvSpPr>
        <p:spPr>
          <a:xfrm>
            <a:off x="6473952" y="380390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Apply auth, logger, ag-Grid wrapper, themes, and components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 generic AI output with Macro behavior and events</a:t>
            </a:r>
            <a:endParaRPr lang="en-US" sz="1020" dirty="0"/>
          </a:p>
        </p:txBody>
      </p:sp>
      <p:sp>
        <p:nvSpPr>
          <p:cNvPr id="43" name="Shape 40"/>
          <p:cNvSpPr/>
          <p:nvPr/>
        </p:nvSpPr>
        <p:spPr>
          <a:xfrm>
            <a:off x="658368" y="4279392"/>
            <a:ext cx="5266944" cy="1170432"/>
          </a:xfrm>
          <a:prstGeom prst="roundRect">
            <a:avLst>
              <a:gd name="adj" fmla="val 9375"/>
            </a:avLst>
          </a:prstGeom>
          <a:solidFill>
            <a:srgbClr val="0B1E36">
              <a:alpha val="93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5.679133646942494e+57" dist="4.2593502352068695e+57" dir="3.526387384320001e+68">
              <a:srgbClr val="000000">
                <a:alpha val="3.1999999999999995e+69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58368" y="4279392"/>
            <a:ext cx="5266944" cy="73152"/>
          </a:xfrm>
          <a:prstGeom prst="rect">
            <a:avLst/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22960" y="442569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2960" y="44348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992624" y="4425696"/>
            <a:ext cx="768096" cy="219456"/>
          </a:xfrm>
          <a:prstGeom prst="roundRect">
            <a:avLst>
              <a:gd name="adj" fmla="val 33333"/>
            </a:avLst>
          </a:prstGeom>
          <a:solidFill>
            <a:srgbClr val="FFC04D"/>
          </a:solidFill>
          <a:ln w="12700">
            <a:solidFill>
              <a:srgbClr val="FFC04D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992624" y="44348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820" dirty="0"/>
          </a:p>
        </p:txBody>
      </p:sp>
      <p:sp>
        <p:nvSpPr>
          <p:cNvPr id="49" name="Text 46"/>
          <p:cNvSpPr/>
          <p:nvPr/>
        </p:nvSpPr>
        <p:spPr>
          <a:xfrm>
            <a:off x="859536" y="4718304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build &amp; deployment</a:t>
            </a:r>
            <a:endParaRPr lang="en-US" sz="1720" dirty="0"/>
          </a:p>
        </p:txBody>
      </p:sp>
      <p:sp>
        <p:nvSpPr>
          <p:cNvPr id="50" name="Text 47"/>
          <p:cNvSpPr/>
          <p:nvPr/>
        </p:nvSpPr>
        <p:spPr>
          <a:xfrm>
            <a:off x="859536" y="506577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Push to GitHub, open PR, run tests, and build the release image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 to OpenShift and publish the version for validation</a:t>
            </a:r>
            <a:endParaRPr lang="en-US" sz="1020" dirty="0"/>
          </a:p>
        </p:txBody>
      </p:sp>
      <p:sp>
        <p:nvSpPr>
          <p:cNvPr id="51" name="Shape 48"/>
          <p:cNvSpPr/>
          <p:nvPr/>
        </p:nvSpPr>
        <p:spPr>
          <a:xfrm>
            <a:off x="6272784" y="4279392"/>
            <a:ext cx="5266944" cy="1170432"/>
          </a:xfrm>
          <a:prstGeom prst="roundRect">
            <a:avLst>
              <a:gd name="adj" fmla="val 9375"/>
            </a:avLst>
          </a:prstGeom>
          <a:solidFill>
            <a:srgbClr val="0B1E36">
              <a:alpha val="93000"/>
            </a:srgbClr>
          </a:solidFill>
          <a:ln w="12700">
            <a:solidFill>
              <a:srgbClr val="304867">
                <a:alpha val="72000"/>
              </a:srgbClr>
            </a:solidFill>
            <a:prstDash val="solid"/>
          </a:ln>
          <a:effectLst>
            <a:outerShdw sx="100000" sy="100000" kx="0" ky="0" algn="bl" rotWithShape="0" blurRad="7.212499731616968e+61" dist="5.409374798712724e+61" dir="2.1158324305920003e+73">
              <a:srgbClr val="000000">
                <a:alpha val="3.1999999999999994e+74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272784" y="4279392"/>
            <a:ext cx="5266944" cy="73152"/>
          </a:xfrm>
          <a:prstGeom prst="rect">
            <a:avLst/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437376" y="4425696"/>
            <a:ext cx="384048" cy="237744"/>
          </a:xfrm>
          <a:prstGeom prst="roundRect">
            <a:avLst>
              <a:gd name="adj" fmla="val 30769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37376" y="443484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10232136" y="4425696"/>
            <a:ext cx="1143000" cy="219456"/>
          </a:xfrm>
          <a:prstGeom prst="roundRect">
            <a:avLst>
              <a:gd name="adj" fmla="val 33333"/>
            </a:avLst>
          </a:prstGeom>
          <a:solidFill>
            <a:srgbClr val="67E58A"/>
          </a:solidFill>
          <a:ln w="12700">
            <a:solidFill>
              <a:srgbClr val="67E58A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232136" y="44348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4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+ Entitlements</a:t>
            </a:r>
            <a:endParaRPr lang="en-US" sz="820" dirty="0"/>
          </a:p>
        </p:txBody>
      </p:sp>
      <p:sp>
        <p:nvSpPr>
          <p:cNvPr id="57" name="Text 54"/>
          <p:cNvSpPr/>
          <p:nvPr/>
        </p:nvSpPr>
        <p:spPr>
          <a:xfrm>
            <a:off x="6473952" y="4718304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into Macro Desktop</a:t>
            </a:r>
            <a:endParaRPr lang="en-US" sz="1720" dirty="0"/>
          </a:p>
        </p:txBody>
      </p:sp>
      <p:sp>
        <p:nvSpPr>
          <p:cNvPr id="58" name="Text 55"/>
          <p:cNvSpPr/>
          <p:nvPr/>
        </p:nvSpPr>
        <p:spPr>
          <a:xfrm>
            <a:off x="6473952" y="506577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Register in Storefront and Dock; enable color linking / FDC3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Configure entitlements and complete desktop UAT</a:t>
            </a:r>
            <a:endParaRPr lang="en-US" sz="1020" dirty="0"/>
          </a:p>
        </p:txBody>
      </p:sp>
      <p:sp>
        <p:nvSpPr>
          <p:cNvPr id="59" name="Shape 56"/>
          <p:cNvSpPr/>
          <p:nvPr/>
        </p:nvSpPr>
        <p:spPr>
          <a:xfrm>
            <a:off x="658368" y="5907024"/>
            <a:ext cx="10972800" cy="365760"/>
          </a:xfrm>
          <a:prstGeom prst="roundRect">
            <a:avLst>
              <a:gd name="adj" fmla="val 30000"/>
            </a:avLst>
          </a:prstGeom>
          <a:solidFill>
            <a:srgbClr val="0B1E36">
              <a:alpha val="90000"/>
            </a:srgbClr>
          </a:solidFill>
          <a:ln w="12700">
            <a:solidFill>
              <a:srgbClr val="304867">
                <a:alpha val="65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41248" y="598017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1CE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stays in control: UX • security / auth • PR quality • deployment UAT. Net effect: a faster idea-to-desktop cycle with consistent UX and release patterns.</a:t>
            </a:r>
            <a:endParaRPr lang="en-US" sz="960" dirty="0"/>
          </a:p>
        </p:txBody>
      </p:sp>
      <p:sp>
        <p:nvSpPr>
          <p:cNvPr id="61" name="Text 58"/>
          <p:cNvSpPr/>
          <p:nvPr/>
        </p:nvSpPr>
        <p:spPr>
          <a:xfrm>
            <a:off x="11814048" y="654710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F90A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Macro Front Office UI Transformation</dc:title>
  <dc:subject>Macro Front Office UI Transformation</dc:subject>
  <dc:creator>OpenAI</dc:creator>
  <cp:lastModifiedBy>OpenAI</cp:lastModifiedBy>
  <cp:revision>1</cp:revision>
  <dcterms:created xsi:type="dcterms:W3CDTF">2026-03-11T02:41:26Z</dcterms:created>
  <dcterms:modified xsi:type="dcterms:W3CDTF">2026-03-11T02:41:26Z</dcterms:modified>
</cp:coreProperties>
</file>